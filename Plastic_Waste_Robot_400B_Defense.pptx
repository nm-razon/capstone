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39"/>
  </p:notesMasterIdLst>
  <p:handoutMasterIdLst>
    <p:handoutMasterId r:id="rId40"/>
  </p:handoutMasterIdLst>
  <p:sldIdLst>
    <p:sldId id="256" r:id="rId5"/>
    <p:sldId id="257" r:id="rId6"/>
    <p:sldId id="258" r:id="rId7"/>
    <p:sldId id="287" r:id="rId8"/>
    <p:sldId id="288" r:id="rId9"/>
    <p:sldId id="261" r:id="rId10"/>
    <p:sldId id="273" r:id="rId11"/>
    <p:sldId id="308" r:id="rId12"/>
    <p:sldId id="262" r:id="rId13"/>
    <p:sldId id="259" r:id="rId14"/>
    <p:sldId id="280" r:id="rId15"/>
    <p:sldId id="260" r:id="rId16"/>
    <p:sldId id="275" r:id="rId17"/>
    <p:sldId id="264" r:id="rId18"/>
    <p:sldId id="276" r:id="rId19"/>
    <p:sldId id="271" r:id="rId20"/>
    <p:sldId id="267" r:id="rId21"/>
    <p:sldId id="266" r:id="rId22"/>
    <p:sldId id="282" r:id="rId23"/>
    <p:sldId id="281" r:id="rId24"/>
    <p:sldId id="268" r:id="rId25"/>
    <p:sldId id="285" r:id="rId26"/>
    <p:sldId id="307" r:id="rId27"/>
    <p:sldId id="290" r:id="rId28"/>
    <p:sldId id="306" r:id="rId29"/>
    <p:sldId id="286" r:id="rId30"/>
    <p:sldId id="309" r:id="rId31"/>
    <p:sldId id="300" r:id="rId32"/>
    <p:sldId id="301" r:id="rId33"/>
    <p:sldId id="302" r:id="rId34"/>
    <p:sldId id="303" r:id="rId35"/>
    <p:sldId id="304" r:id="rId36"/>
    <p:sldId id="305" r:id="rId37"/>
    <p:sldId id="299" r:id="rId3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D9488"/>
    <a:srgbClr val="F0A600"/>
    <a:srgbClr val="000000"/>
    <a:srgbClr val="EBA40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FF0E516-7BFB-429A-8522-3766B7D0D1C8}" v="112" dt="2026-05-05T17:05:57.71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2" d="100"/>
          <a:sy n="92" d="100"/>
        </p:scale>
        <p:origin x="54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viewProps" Target="viewProp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handoutMaster" Target="handoutMasters/handoutMaster1.xml"/><Relationship Id="rId45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theme" Target="theme/theme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20" Type="http://schemas.openxmlformats.org/officeDocument/2006/relationships/slide" Target="slides/slide16.xml"/><Relationship Id="rId41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F503B79-2397-444B-9B49-58B4C6F8A51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12F31C0-2B01-470F-ACC4-34B96EDDFCC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5017B5-5A1A-46D3-BF4D-B98CFA824A0B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B2A7509-5E6A-4ADF-9E9E-547BDAAC723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5E9055C-5CE2-4B59-8F67-E6F41CC619D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7DAA57A-1214-4177-A455-162C318BA3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4103073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82320752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472845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964925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71850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Computational cost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938DCE-ECB4-DBB1-CF68-3708E54156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FE55204-BA7B-0F92-32BC-44323DF621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8F8C5F8-444C-490D-7F81-34058C1983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F173B8-DE86-7D3A-5DC8-E2D594EDC67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340942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560772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59759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394812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232499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38777C-936A-C8A4-52B9-38B2D46B63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6348549-C377-1BF1-3CB0-6BE94C0487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6A7AB72-1BED-2756-B1E8-5310A1763C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7C1B30-9EA1-997F-C56F-F2C3AE6DFFB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209153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3E7B3D-E21F-7F5E-72C9-D4C3BFB27E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9D8717-A344-646C-D14F-A8B685F133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E8AFFE4-3195-594D-B95D-EC27B71997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AD0E38-AA09-D315-F170-05C187E9077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383911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FEFF00-925D-74F3-1A46-8198428186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03B9053-D98E-DF2E-3E4D-FE36D093D8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B361E3B-275F-E740-9FF3-5DDA4866A8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E9B3AE-3BA2-BC66-D1C7-03F0051DE98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079286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378054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05003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540353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919790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700469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75677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1457515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6943590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70513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Pr>
        <a:solidFill>
          <a:schemeClr val="bg1">
            <a:alpha val="5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07/relationships/media" Target="../media/media2.mp4"/><Relationship Id="rId7" Type="http://schemas.openxmlformats.org/officeDocument/2006/relationships/image" Target="../media/image10.pn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9.png"/><Relationship Id="rId5" Type="http://schemas.openxmlformats.org/officeDocument/2006/relationships/slideLayout" Target="../slideLayouts/slideLayout1.xml"/><Relationship Id="rId4" Type="http://schemas.openxmlformats.org/officeDocument/2006/relationships/video" Target="../media/media2.mp4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jpe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3.mp4"/><Relationship Id="rId1" Type="http://schemas.microsoft.com/office/2007/relationships/media" Target="../media/media3.mp4"/><Relationship Id="rId5" Type="http://schemas.openxmlformats.org/officeDocument/2006/relationships/image" Target="../media/image14.png"/><Relationship Id="rId4" Type="http://schemas.openxmlformats.org/officeDocument/2006/relationships/notesSlide" Target="../notesSlides/notesSlide2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E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502920"/>
            <a:ext cx="70764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Plastic</a:t>
            </a:r>
            <a:endParaRPr lang="en-US" sz="3600" dirty="0"/>
          </a:p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 Collector Robot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365760" y="210312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EEE400B Project Presentation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2560320"/>
            <a:ext cx="8412480" cy="27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27432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3063240"/>
            <a:ext cx="4754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MD. Nahid Hassan  (2022-1-80-037)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MD. Mainuddin Rahman </a:t>
            </a:r>
            <a:r>
              <a:rPr lang="en-US" sz="13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Eshan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(2022-2-80-022)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Faisal Hasan  (2022-2-80-007)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Niaz Morshed Razon  (2022-2-80-008)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303520" y="27432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Supervisor: </a:t>
            </a:r>
            <a:r>
              <a:rPr lang="en-US" sz="13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Ratil Hasnat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5303520" y="306324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Associate Professor </a:t>
            </a:r>
            <a:b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EEE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East West University</a:t>
            </a:r>
            <a:endParaRPr lang="en-US" sz="13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43C68DD-F723-42F1-8226-11D7B45CD629}"/>
              </a:ext>
            </a:extLst>
          </p:cNvPr>
          <p:cNvSpPr txBox="1"/>
          <p:nvPr/>
        </p:nvSpPr>
        <p:spPr>
          <a:xfrm>
            <a:off x="8580991" y="4644998"/>
            <a:ext cx="38012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  <p:txBody>
          <a:bodyPr/>
          <a:lstStyle/>
          <a:p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0" y="685800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Stakeholders Reviews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274320" y="911860"/>
            <a:ext cx="8710930" cy="3408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/>
              <a:t>Individuals from different sectors were consulted to gather feedback for the project design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C62D33F3-AC78-4055-A9CB-07FC6CF3C29C}"/>
              </a:ext>
            </a:extLst>
          </p:cNvPr>
          <p:cNvGrpSpPr/>
          <p:nvPr/>
        </p:nvGrpSpPr>
        <p:grpSpPr>
          <a:xfrm>
            <a:off x="274320" y="1435608"/>
            <a:ext cx="8641080" cy="3337560"/>
            <a:chOff x="274320" y="1143000"/>
            <a:chExt cx="8641080" cy="3337560"/>
          </a:xfrm>
        </p:grpSpPr>
        <p:sp>
          <p:nvSpPr>
            <p:cNvPr id="6" name="Shape 4"/>
            <p:cNvSpPr/>
            <p:nvPr/>
          </p:nvSpPr>
          <p:spPr>
            <a:xfrm>
              <a:off x="274320" y="1143000"/>
              <a:ext cx="4160520" cy="155448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CBD5E1"/>
              </a:solidFill>
              <a:prstDash val="solid"/>
            </a:ln>
            <a:effectLst>
              <a:outerShdw blurRad="76200" dist="25400" dir="8100000" algn="bl" rotWithShape="0">
                <a:srgbClr val="000000">
                  <a:alpha val="7000"/>
                </a:srgbClr>
              </a:outerShdw>
            </a:effectLst>
          </p:spPr>
          <p:txBody>
            <a:bodyPr/>
            <a:lstStyle/>
            <a:p>
              <a:endParaRPr lang="en-US" sz="2800" dirty="0"/>
            </a:p>
          </p:txBody>
        </p:sp>
        <p:sp>
          <p:nvSpPr>
            <p:cNvPr id="7" name="Shape 5"/>
            <p:cNvSpPr/>
            <p:nvPr/>
          </p:nvSpPr>
          <p:spPr>
            <a:xfrm>
              <a:off x="274320" y="1143000"/>
              <a:ext cx="109728" cy="1554480"/>
            </a:xfrm>
            <a:prstGeom prst="rect">
              <a:avLst/>
            </a:prstGeom>
            <a:solidFill>
              <a:srgbClr val="0D9488"/>
            </a:solidFill>
            <a:ln w="12700">
              <a:solidFill>
                <a:srgbClr val="0D948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 6"/>
            <p:cNvSpPr/>
            <p:nvPr/>
          </p:nvSpPr>
          <p:spPr>
            <a:xfrm>
              <a:off x="457200" y="1280160"/>
              <a:ext cx="384048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b="1" dirty="0">
                  <a:solidFill>
                    <a:srgbClr val="1A2E4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🏭  Recycling &amp; Plastic Processing Industry</a:t>
              </a:r>
              <a:endParaRPr lang="en-US" dirty="0"/>
            </a:p>
          </p:txBody>
        </p:sp>
        <p:sp>
          <p:nvSpPr>
            <p:cNvPr id="9" name="Text 7"/>
            <p:cNvSpPr/>
            <p:nvPr/>
          </p:nvSpPr>
          <p:spPr>
            <a:xfrm>
              <a:off x="457200" y="1783080"/>
              <a:ext cx="3840480" cy="7315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2000" dirty="0"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Clean recyclable plastic specifically PET bottles, proper collection.</a:t>
              </a:r>
            </a:p>
          </p:txBody>
        </p:sp>
        <p:sp>
          <p:nvSpPr>
            <p:cNvPr id="10" name="Shape 8"/>
            <p:cNvSpPr/>
            <p:nvPr/>
          </p:nvSpPr>
          <p:spPr>
            <a:xfrm>
              <a:off x="4754880" y="1143000"/>
              <a:ext cx="4160520" cy="155448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CBD5E1"/>
              </a:solidFill>
              <a:prstDash val="solid"/>
            </a:ln>
            <a:effectLst>
              <a:outerShdw blurRad="76200" dist="25400" dir="8100000" algn="bl" rotWithShape="0">
                <a:srgbClr val="000000">
                  <a:alpha val="7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Shape 9"/>
            <p:cNvSpPr/>
            <p:nvPr/>
          </p:nvSpPr>
          <p:spPr>
            <a:xfrm>
              <a:off x="4754880" y="1143000"/>
              <a:ext cx="109728" cy="1554480"/>
            </a:xfrm>
            <a:prstGeom prst="rect">
              <a:avLst/>
            </a:prstGeom>
            <a:solidFill>
              <a:srgbClr val="0D9488"/>
            </a:solidFill>
            <a:ln w="12700">
              <a:solidFill>
                <a:srgbClr val="0D948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 10"/>
            <p:cNvSpPr/>
            <p:nvPr/>
          </p:nvSpPr>
          <p:spPr>
            <a:xfrm>
              <a:off x="4937760" y="1280160"/>
              <a:ext cx="384048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2000" dirty="0"/>
                <a:t>🌍 </a:t>
              </a:r>
              <a:r>
                <a:rPr lang="en-US" b="1" dirty="0"/>
                <a:t>Environmental / NGO</a:t>
              </a:r>
            </a:p>
          </p:txBody>
        </p:sp>
        <p:sp>
          <p:nvSpPr>
            <p:cNvPr id="13" name="Text 11"/>
            <p:cNvSpPr/>
            <p:nvPr/>
          </p:nvSpPr>
          <p:spPr>
            <a:xfrm>
              <a:off x="4937760" y="1783080"/>
              <a:ext cx="3840480" cy="7315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2000" dirty="0"/>
                <a:t>Waste reduction, environmental compliance, sustainability</a:t>
              </a:r>
            </a:p>
          </p:txBody>
        </p:sp>
        <p:sp>
          <p:nvSpPr>
            <p:cNvPr id="14" name="Shape 12"/>
            <p:cNvSpPr/>
            <p:nvPr/>
          </p:nvSpPr>
          <p:spPr>
            <a:xfrm>
              <a:off x="274320" y="2926080"/>
              <a:ext cx="4160520" cy="155448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CBD5E1"/>
              </a:solidFill>
              <a:prstDash val="solid"/>
            </a:ln>
            <a:effectLst>
              <a:outerShdw blurRad="76200" dist="25400" dir="8100000" algn="bl" rotWithShape="0">
                <a:srgbClr val="000000">
                  <a:alpha val="7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Shape 13"/>
            <p:cNvSpPr/>
            <p:nvPr/>
          </p:nvSpPr>
          <p:spPr>
            <a:xfrm>
              <a:off x="274320" y="2926080"/>
              <a:ext cx="109728" cy="1554480"/>
            </a:xfrm>
            <a:prstGeom prst="rect">
              <a:avLst/>
            </a:prstGeom>
            <a:solidFill>
              <a:srgbClr val="0D9488"/>
            </a:solidFill>
            <a:ln w="12700">
              <a:solidFill>
                <a:srgbClr val="0D948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 14"/>
            <p:cNvSpPr/>
            <p:nvPr/>
          </p:nvSpPr>
          <p:spPr>
            <a:xfrm>
              <a:off x="457200" y="3063240"/>
              <a:ext cx="384048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b="1" dirty="0">
                  <a:solidFill>
                    <a:srgbClr val="1A2E4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♻️  Local Scrap Business Owners</a:t>
              </a:r>
              <a:endParaRPr lang="en-US" dirty="0"/>
            </a:p>
          </p:txBody>
        </p:sp>
        <p:sp>
          <p:nvSpPr>
            <p:cNvPr id="17" name="Text 15"/>
            <p:cNvSpPr/>
            <p:nvPr/>
          </p:nvSpPr>
          <p:spPr>
            <a:xfrm>
              <a:off x="457200" y="3566160"/>
              <a:ext cx="3840480" cy="7315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2000" dirty="0"/>
                <a:t>Low-cost operation, easy maintenance, recyclable plastic focus</a:t>
              </a:r>
            </a:p>
          </p:txBody>
        </p:sp>
        <p:sp>
          <p:nvSpPr>
            <p:cNvPr id="18" name="Shape 16"/>
            <p:cNvSpPr/>
            <p:nvPr/>
          </p:nvSpPr>
          <p:spPr>
            <a:xfrm>
              <a:off x="4754880" y="2926080"/>
              <a:ext cx="4160520" cy="155448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CBD5E1"/>
              </a:solidFill>
              <a:prstDash val="solid"/>
            </a:ln>
            <a:effectLst>
              <a:outerShdw blurRad="76200" dist="25400" dir="8100000" algn="bl" rotWithShape="0">
                <a:srgbClr val="000000">
                  <a:alpha val="7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Shape 17"/>
            <p:cNvSpPr/>
            <p:nvPr/>
          </p:nvSpPr>
          <p:spPr>
            <a:xfrm>
              <a:off x="4754880" y="2926080"/>
              <a:ext cx="109728" cy="1554480"/>
            </a:xfrm>
            <a:prstGeom prst="rect">
              <a:avLst/>
            </a:prstGeom>
            <a:solidFill>
              <a:srgbClr val="0D9488"/>
            </a:solidFill>
            <a:ln w="12700">
              <a:solidFill>
                <a:srgbClr val="0D948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Text 18"/>
            <p:cNvSpPr/>
            <p:nvPr/>
          </p:nvSpPr>
          <p:spPr>
            <a:xfrm>
              <a:off x="4937760" y="3063240"/>
              <a:ext cx="384048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b="1" dirty="0">
                  <a:solidFill>
                    <a:srgbClr val="1A2E4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👥  General Public / Park Users</a:t>
              </a:r>
              <a:endParaRPr lang="en-US" dirty="0"/>
            </a:p>
          </p:txBody>
        </p:sp>
        <p:sp>
          <p:nvSpPr>
            <p:cNvPr id="21" name="Text 19"/>
            <p:cNvSpPr/>
            <p:nvPr/>
          </p:nvSpPr>
          <p:spPr>
            <a:xfrm>
              <a:off x="4937760" y="3566160"/>
              <a:ext cx="3840480" cy="7315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2000" dirty="0"/>
                <a:t>Safety, low noise, non-intrusive operation, visible warning indicators</a:t>
              </a:r>
            </a:p>
          </p:txBody>
        </p: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3A03A409-2B2C-4F61-8BF5-A6768337FF97}"/>
              </a:ext>
            </a:extLst>
          </p:cNvPr>
          <p:cNvSpPr txBox="1"/>
          <p:nvPr/>
        </p:nvSpPr>
        <p:spPr>
          <a:xfrm>
            <a:off x="8615110" y="4774168"/>
            <a:ext cx="38012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85800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Requirements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274320" y="896366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system capabilities required for operation</a:t>
            </a:r>
            <a:endParaRPr lang="en-US" sz="2400" dirty="0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A57A112E-666E-481B-AB0B-4296FA297A04}"/>
              </a:ext>
            </a:extLst>
          </p:cNvPr>
          <p:cNvGrpSpPr/>
          <p:nvPr/>
        </p:nvGrpSpPr>
        <p:grpSpPr>
          <a:xfrm>
            <a:off x="196850" y="1327150"/>
            <a:ext cx="8672830" cy="3446018"/>
            <a:chOff x="274320" y="1143000"/>
            <a:chExt cx="8595360" cy="3337560"/>
          </a:xfrm>
        </p:grpSpPr>
        <p:sp>
          <p:nvSpPr>
            <p:cNvPr id="6" name="Shape 4"/>
            <p:cNvSpPr/>
            <p:nvPr/>
          </p:nvSpPr>
          <p:spPr>
            <a:xfrm>
              <a:off x="274320" y="1143000"/>
              <a:ext cx="4160520" cy="155448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CBD5E1"/>
              </a:solidFill>
              <a:prstDash val="solid"/>
            </a:ln>
            <a:effectLst>
              <a:outerShdw blurRad="76200" dist="25400" dir="8100000" algn="bl" rotWithShape="0">
                <a:srgbClr val="000000">
                  <a:alpha val="7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Shape 5"/>
            <p:cNvSpPr/>
            <p:nvPr/>
          </p:nvSpPr>
          <p:spPr>
            <a:xfrm>
              <a:off x="274320" y="1143000"/>
              <a:ext cx="640080" cy="1554480"/>
            </a:xfrm>
            <a:prstGeom prst="rect">
              <a:avLst/>
            </a:prstGeom>
            <a:solidFill>
              <a:srgbClr val="1A2E44"/>
            </a:solidFill>
            <a:ln w="12700">
              <a:solidFill>
                <a:srgbClr val="1A2E44"/>
              </a:solidFill>
              <a:prstDash val="soli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" name="Text 6"/>
            <p:cNvSpPr/>
            <p:nvPr/>
          </p:nvSpPr>
          <p:spPr>
            <a:xfrm>
              <a:off x="274320" y="1645920"/>
              <a:ext cx="640080" cy="5486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4000" b="1" dirty="0">
                  <a:solidFill>
                    <a:srgbClr val="0D948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1</a:t>
              </a:r>
              <a:endParaRPr lang="en-US" sz="4000" dirty="0"/>
            </a:p>
          </p:txBody>
        </p:sp>
        <p:sp>
          <p:nvSpPr>
            <p:cNvPr id="9" name="Text 7"/>
            <p:cNvSpPr/>
            <p:nvPr/>
          </p:nvSpPr>
          <p:spPr>
            <a:xfrm>
              <a:off x="1005840" y="1280160"/>
              <a:ext cx="333756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2000" b="1" dirty="0">
                  <a:solidFill>
                    <a:srgbClr val="1A2E4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Autonomous Navigation</a:t>
              </a:r>
              <a:endParaRPr lang="en-US" sz="2000" dirty="0"/>
            </a:p>
          </p:txBody>
        </p:sp>
        <p:sp>
          <p:nvSpPr>
            <p:cNvPr id="10" name="Text 8"/>
            <p:cNvSpPr/>
            <p:nvPr/>
          </p:nvSpPr>
          <p:spPr>
            <a:xfrm>
              <a:off x="1005840" y="1737360"/>
              <a:ext cx="3337560" cy="7772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2000" dirty="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No human control required — fully self-guided movement</a:t>
              </a:r>
              <a:endParaRPr lang="en-US" sz="2000" dirty="0"/>
            </a:p>
          </p:txBody>
        </p:sp>
        <p:sp>
          <p:nvSpPr>
            <p:cNvPr id="11" name="Shape 9"/>
            <p:cNvSpPr/>
            <p:nvPr/>
          </p:nvSpPr>
          <p:spPr>
            <a:xfrm>
              <a:off x="4709160" y="1143000"/>
              <a:ext cx="4160520" cy="155448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CBD5E1"/>
              </a:solidFill>
              <a:prstDash val="solid"/>
            </a:ln>
            <a:effectLst>
              <a:outerShdw blurRad="76200" dist="25400" dir="8100000" algn="bl" rotWithShape="0">
                <a:srgbClr val="000000">
                  <a:alpha val="7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Shape 10"/>
            <p:cNvSpPr/>
            <p:nvPr/>
          </p:nvSpPr>
          <p:spPr>
            <a:xfrm>
              <a:off x="4709160" y="1143000"/>
              <a:ext cx="640080" cy="1554480"/>
            </a:xfrm>
            <a:prstGeom prst="rect">
              <a:avLst/>
            </a:prstGeom>
            <a:solidFill>
              <a:srgbClr val="1A2E44"/>
            </a:solidFill>
            <a:ln w="12700">
              <a:solidFill>
                <a:srgbClr val="1A2E44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 11"/>
            <p:cNvSpPr/>
            <p:nvPr/>
          </p:nvSpPr>
          <p:spPr>
            <a:xfrm>
              <a:off x="4709160" y="1645920"/>
              <a:ext cx="640080" cy="5486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4000" b="1" dirty="0">
                  <a:solidFill>
                    <a:srgbClr val="0D948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2</a:t>
              </a:r>
              <a:endParaRPr lang="en-US" sz="4000" dirty="0"/>
            </a:p>
          </p:txBody>
        </p:sp>
        <p:sp>
          <p:nvSpPr>
            <p:cNvPr id="14" name="Text 12"/>
            <p:cNvSpPr/>
            <p:nvPr/>
          </p:nvSpPr>
          <p:spPr>
            <a:xfrm>
              <a:off x="5440680" y="1280160"/>
              <a:ext cx="333756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2400" b="1" dirty="0">
                  <a:solidFill>
                    <a:srgbClr val="1A2E4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Plastic Detection</a:t>
              </a:r>
              <a:endParaRPr lang="en-US" sz="2400" dirty="0"/>
            </a:p>
          </p:txBody>
        </p:sp>
        <p:sp>
          <p:nvSpPr>
            <p:cNvPr id="15" name="Text 13"/>
            <p:cNvSpPr/>
            <p:nvPr/>
          </p:nvSpPr>
          <p:spPr>
            <a:xfrm>
              <a:off x="5440680" y="1737360"/>
              <a:ext cx="3337560" cy="7772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2000" dirty="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Camera + AI-based identification of plastic waste</a:t>
              </a:r>
              <a:endParaRPr lang="en-US" sz="2000" dirty="0"/>
            </a:p>
          </p:txBody>
        </p:sp>
        <p:sp>
          <p:nvSpPr>
            <p:cNvPr id="16" name="Shape 14"/>
            <p:cNvSpPr/>
            <p:nvPr/>
          </p:nvSpPr>
          <p:spPr>
            <a:xfrm>
              <a:off x="274320" y="2926080"/>
              <a:ext cx="4160520" cy="155448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CBD5E1"/>
              </a:solidFill>
              <a:prstDash val="solid"/>
            </a:ln>
            <a:effectLst>
              <a:outerShdw blurRad="76200" dist="25400" dir="8100000" algn="bl" rotWithShape="0">
                <a:srgbClr val="000000">
                  <a:alpha val="7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Shape 15"/>
            <p:cNvSpPr/>
            <p:nvPr/>
          </p:nvSpPr>
          <p:spPr>
            <a:xfrm>
              <a:off x="274320" y="2926080"/>
              <a:ext cx="640080" cy="1554480"/>
            </a:xfrm>
            <a:prstGeom prst="rect">
              <a:avLst/>
            </a:prstGeom>
            <a:solidFill>
              <a:srgbClr val="1A2E44"/>
            </a:solidFill>
            <a:ln w="12700">
              <a:solidFill>
                <a:srgbClr val="1A2E44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 16"/>
            <p:cNvSpPr/>
            <p:nvPr/>
          </p:nvSpPr>
          <p:spPr>
            <a:xfrm>
              <a:off x="274320" y="3429000"/>
              <a:ext cx="640080" cy="5486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4000" b="1" dirty="0">
                  <a:solidFill>
                    <a:srgbClr val="0D948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3</a:t>
              </a:r>
              <a:endParaRPr lang="en-US" sz="4000" dirty="0"/>
            </a:p>
          </p:txBody>
        </p:sp>
        <p:sp>
          <p:nvSpPr>
            <p:cNvPr id="19" name="Text 17"/>
            <p:cNvSpPr/>
            <p:nvPr/>
          </p:nvSpPr>
          <p:spPr>
            <a:xfrm>
              <a:off x="1005840" y="3063240"/>
              <a:ext cx="333756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2000" b="1" dirty="0">
                  <a:solidFill>
                    <a:srgbClr val="1A2E4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Waste Pickup Mechanism</a:t>
              </a:r>
              <a:endParaRPr lang="en-US" sz="2000" dirty="0"/>
            </a:p>
          </p:txBody>
        </p:sp>
        <p:sp>
          <p:nvSpPr>
            <p:cNvPr id="20" name="Text 18"/>
            <p:cNvSpPr/>
            <p:nvPr/>
          </p:nvSpPr>
          <p:spPr>
            <a:xfrm>
              <a:off x="1005840" y="3520440"/>
              <a:ext cx="3337560" cy="7772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2000" dirty="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Automated physical collection of detected waste</a:t>
              </a:r>
              <a:endParaRPr lang="en-US" sz="2000" dirty="0"/>
            </a:p>
          </p:txBody>
        </p:sp>
        <p:sp>
          <p:nvSpPr>
            <p:cNvPr id="21" name="Shape 19"/>
            <p:cNvSpPr/>
            <p:nvPr/>
          </p:nvSpPr>
          <p:spPr>
            <a:xfrm>
              <a:off x="4709160" y="2926080"/>
              <a:ext cx="4160520" cy="155448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CBD5E1"/>
              </a:solidFill>
              <a:prstDash val="solid"/>
            </a:ln>
            <a:effectLst>
              <a:outerShdw blurRad="76200" dist="25400" dir="8100000" algn="bl" rotWithShape="0">
                <a:srgbClr val="000000">
                  <a:alpha val="7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Shape 20"/>
            <p:cNvSpPr/>
            <p:nvPr/>
          </p:nvSpPr>
          <p:spPr>
            <a:xfrm>
              <a:off x="4709160" y="2926080"/>
              <a:ext cx="640080" cy="1554480"/>
            </a:xfrm>
            <a:prstGeom prst="rect">
              <a:avLst/>
            </a:prstGeom>
            <a:solidFill>
              <a:srgbClr val="1A2E44"/>
            </a:solidFill>
            <a:ln w="12700">
              <a:solidFill>
                <a:srgbClr val="1A2E44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Text 21"/>
            <p:cNvSpPr/>
            <p:nvPr/>
          </p:nvSpPr>
          <p:spPr>
            <a:xfrm>
              <a:off x="4709160" y="3429000"/>
              <a:ext cx="640080" cy="5486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4000" b="1" dirty="0">
                  <a:solidFill>
                    <a:srgbClr val="0D948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4</a:t>
              </a:r>
              <a:endParaRPr lang="en-US" sz="4000" dirty="0"/>
            </a:p>
          </p:txBody>
        </p:sp>
        <p:sp>
          <p:nvSpPr>
            <p:cNvPr id="24" name="Text 22"/>
            <p:cNvSpPr/>
            <p:nvPr/>
          </p:nvSpPr>
          <p:spPr>
            <a:xfrm>
              <a:off x="5440680" y="3063240"/>
              <a:ext cx="333756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2000" b="1" dirty="0">
                  <a:solidFill>
                    <a:srgbClr val="1A2E4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Onboard Storage &amp; Auto Return</a:t>
              </a:r>
              <a:endParaRPr lang="en-US" sz="2000" dirty="0"/>
            </a:p>
          </p:txBody>
        </p:sp>
        <p:sp>
          <p:nvSpPr>
            <p:cNvPr id="25" name="Text 23"/>
            <p:cNvSpPr/>
            <p:nvPr/>
          </p:nvSpPr>
          <p:spPr>
            <a:xfrm>
              <a:off x="5440680" y="3520440"/>
              <a:ext cx="3337560" cy="7772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2000" dirty="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Stores collected waste; returns autonomously when full</a:t>
              </a:r>
              <a:endParaRPr lang="en-US" sz="2000" dirty="0"/>
            </a:p>
          </p:txBody>
        </p:sp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1FB544D9-B46B-49D1-A108-463D3FC280DB}"/>
              </a:ext>
            </a:extLst>
          </p:cNvPr>
          <p:cNvSpPr txBox="1"/>
          <p:nvPr/>
        </p:nvSpPr>
        <p:spPr>
          <a:xfrm>
            <a:off x="8679615" y="4774168"/>
            <a:ext cx="38012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85800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System Architecture 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804291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ensure proper functionality the whole system is divided into multiple subsystem </a:t>
            </a:r>
            <a:endParaRPr lang="en-US" sz="2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7956382"/>
              </p:ext>
            </p:extLst>
          </p:nvPr>
        </p:nvGraphicFramePr>
        <p:xfrm>
          <a:off x="602673" y="1178814"/>
          <a:ext cx="7675418" cy="3741768"/>
        </p:xfrm>
        <a:graphic>
          <a:graphicData uri="http://schemas.openxmlformats.org/drawingml/2006/table">
            <a:tbl>
              <a:tblPr/>
              <a:tblGrid>
                <a:gridCol w="21337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416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1006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Subsystem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Function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9981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Power Management Unit</a:t>
                      </a:r>
                      <a:endParaRPr 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Supplies regulated voltage to controllers, sensors, motors, and actuators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5060512"/>
                  </a:ext>
                </a:extLst>
              </a:tr>
              <a:tr h="399981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rgbClr val="0070C0"/>
                          </a:solidFill>
                        </a:rPr>
                        <a:t>Plastic Detection Unit</a:t>
                      </a:r>
                      <a:endParaRPr lang="en-US" sz="1400" dirty="0">
                        <a:solidFill>
                          <a:srgbClr val="0070C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Uses camera-based vision to detect plastic waste and generate object position data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9981">
                <a:tc>
                  <a:txBody>
                    <a:bodyPr/>
                    <a:lstStyle/>
                    <a:p>
                      <a:r>
                        <a:rPr lang="en-US" sz="1400" b="1"/>
                        <a:t>Control &amp; Processing Unit</a:t>
                      </a:r>
                      <a:endParaRPr lang="en-US" sz="1400"/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Processes detection and sensor data, then makes navigation and pickup decisions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9981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rgbClr val="0070C0"/>
                          </a:solidFill>
                        </a:rPr>
                        <a:t>Navigation &amp; Mobility Unit</a:t>
                      </a:r>
                      <a:endParaRPr lang="en-US" sz="1400" dirty="0">
                        <a:solidFill>
                          <a:srgbClr val="0070C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Moves the robot, avoids obstacles, and positions the robot near the detected waste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9981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rgbClr val="0070C0"/>
                          </a:solidFill>
                        </a:rPr>
                        <a:t>Waste Collection Mechanism</a:t>
                      </a:r>
                      <a:endParaRPr lang="en-US" sz="1400" dirty="0">
                        <a:solidFill>
                          <a:srgbClr val="0070C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Picks up the detected plastic object and transfers it to storage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9981">
                <a:tc>
                  <a:txBody>
                    <a:bodyPr/>
                    <a:lstStyle/>
                    <a:p>
                      <a:r>
                        <a:rPr lang="en-US" sz="1400" b="1" dirty="0"/>
                        <a:t>Storage Unit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Stores collected plastic waste and supports unloading into a disposal point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9981">
                <a:tc>
                  <a:txBody>
                    <a:bodyPr/>
                    <a:lstStyle/>
                    <a:p>
                      <a:r>
                        <a:rPr lang="en-US" sz="1400" b="1"/>
                        <a:t>Safety &amp; Monitoring Unit</a:t>
                      </a:r>
                      <a:endParaRPr lang="en-US" sz="1400"/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Monitors obstacles, battery condition, and emergency situations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31F4FC99-2D3E-4B21-B754-656E0F650F2D}"/>
              </a:ext>
            </a:extLst>
          </p:cNvPr>
          <p:cNvSpPr txBox="1"/>
          <p:nvPr/>
        </p:nvSpPr>
        <p:spPr>
          <a:xfrm>
            <a:off x="8615110" y="4774168"/>
            <a:ext cx="38012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5414811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  <p:txBody>
          <a:bodyPr/>
          <a:lstStyle/>
          <a:p>
            <a:endParaRPr lang="en-US" sz="3200"/>
          </a:p>
        </p:txBody>
      </p:sp>
      <p:sp>
        <p:nvSpPr>
          <p:cNvPr id="3" name="Shape 1"/>
          <p:cNvSpPr/>
          <p:nvPr/>
        </p:nvSpPr>
        <p:spPr>
          <a:xfrm>
            <a:off x="0" y="685800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 sz="3200"/>
          </a:p>
        </p:txBody>
      </p:sp>
      <p:sp>
        <p:nvSpPr>
          <p:cNvPr id="4" name="Text 2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Solutions for Plastic Detection</a:t>
            </a:r>
            <a:endParaRPr lang="en-US" sz="3600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8CB0EB66-4DB3-4A73-97E6-8CA69040C027}"/>
              </a:ext>
            </a:extLst>
          </p:cNvPr>
          <p:cNvGrpSpPr/>
          <p:nvPr/>
        </p:nvGrpSpPr>
        <p:grpSpPr>
          <a:xfrm>
            <a:off x="220287" y="847470"/>
            <a:ext cx="8595360" cy="2245823"/>
            <a:chOff x="228600" y="1051560"/>
            <a:chExt cx="8595360" cy="3278949"/>
          </a:xfrm>
        </p:grpSpPr>
        <p:sp>
          <p:nvSpPr>
            <p:cNvPr id="6" name="Shape 4"/>
            <p:cNvSpPr/>
            <p:nvPr/>
          </p:nvSpPr>
          <p:spPr>
            <a:xfrm>
              <a:off x="228600" y="1051561"/>
              <a:ext cx="2743200" cy="3278948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CBD5E1"/>
              </a:solidFill>
              <a:prstDash val="solid"/>
            </a:ln>
            <a:effectLst>
              <a:outerShdw blurRad="76200" dist="25400" dir="8100000" algn="bl" rotWithShape="0">
                <a:srgbClr val="000000">
                  <a:alpha val="8000"/>
                </a:srgbClr>
              </a:outerShdw>
            </a:effectLst>
          </p:spPr>
          <p:txBody>
            <a:bodyPr/>
            <a:lstStyle/>
            <a:p>
              <a:endParaRPr lang="en-US" sz="3200" dirty="0"/>
            </a:p>
          </p:txBody>
        </p:sp>
        <p:sp>
          <p:nvSpPr>
            <p:cNvPr id="7" name="Shape 5"/>
            <p:cNvSpPr/>
            <p:nvPr/>
          </p:nvSpPr>
          <p:spPr>
            <a:xfrm>
              <a:off x="228600" y="1051560"/>
              <a:ext cx="2743200" cy="746766"/>
            </a:xfrm>
            <a:prstGeom prst="rect">
              <a:avLst/>
            </a:prstGeom>
            <a:solidFill>
              <a:srgbClr val="64748B"/>
            </a:solidFill>
            <a:ln w="12700">
              <a:solidFill>
                <a:srgbClr val="64748B"/>
              </a:solidFill>
              <a:prstDash val="solid"/>
            </a:ln>
          </p:spPr>
          <p:txBody>
            <a:bodyPr/>
            <a:lstStyle/>
            <a:p>
              <a:endParaRPr lang="en-US" sz="3200" dirty="0"/>
            </a:p>
          </p:txBody>
        </p:sp>
        <p:sp>
          <p:nvSpPr>
            <p:cNvPr id="9" name="Text 7"/>
            <p:cNvSpPr/>
            <p:nvPr/>
          </p:nvSpPr>
          <p:spPr>
            <a:xfrm>
              <a:off x="428106" y="1173913"/>
              <a:ext cx="256032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Traditional Vision</a:t>
              </a:r>
              <a:endParaRPr lang="en-US" dirty="0"/>
            </a:p>
          </p:txBody>
        </p:sp>
        <p:sp>
          <p:nvSpPr>
            <p:cNvPr id="10" name="Text 8"/>
            <p:cNvSpPr/>
            <p:nvPr/>
          </p:nvSpPr>
          <p:spPr>
            <a:xfrm>
              <a:off x="320040" y="1943100"/>
              <a:ext cx="2560320" cy="67814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600" i="1" dirty="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HSV + Edge Detection + Texture</a:t>
              </a:r>
              <a:endParaRPr lang="en-US" sz="1600" dirty="0"/>
            </a:p>
          </p:txBody>
        </p:sp>
        <p:sp>
          <p:nvSpPr>
            <p:cNvPr id="11" name="Text 9"/>
            <p:cNvSpPr/>
            <p:nvPr/>
          </p:nvSpPr>
          <p:spPr>
            <a:xfrm>
              <a:off x="267393" y="2100962"/>
              <a:ext cx="2560320" cy="2227389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342900" indent="-342900">
                <a:buSzPct val="100000"/>
                <a:buChar char="•"/>
              </a:pPr>
              <a:r>
                <a:rPr lang="en-US" sz="1600" dirty="0">
                  <a:solidFill>
                    <a:srgbClr val="0F17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Use threshold values of color and shape</a:t>
              </a:r>
              <a:endParaRPr lang="en-US" sz="1600" dirty="0"/>
            </a:p>
            <a:p>
              <a:pPr marL="342900" indent="-342900">
                <a:buSzPct val="100000"/>
                <a:buChar char="•"/>
              </a:pPr>
              <a:r>
                <a:rPr lang="en-US" sz="1600" dirty="0">
                  <a:solidFill>
                    <a:srgbClr val="0F17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Use RGB color spectrum </a:t>
              </a:r>
              <a:endParaRPr lang="en-US" sz="1600" dirty="0"/>
            </a:p>
          </p:txBody>
        </p:sp>
        <p:sp>
          <p:nvSpPr>
            <p:cNvPr id="12" name="Shape 10"/>
            <p:cNvSpPr/>
            <p:nvPr/>
          </p:nvSpPr>
          <p:spPr>
            <a:xfrm>
              <a:off x="3154680" y="1051560"/>
              <a:ext cx="2743200" cy="3278949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CBD5E1"/>
              </a:solidFill>
              <a:prstDash val="solid"/>
            </a:ln>
            <a:effectLst>
              <a:outerShdw blurRad="76200" dist="25400" dir="8100000" algn="bl" rotWithShape="0">
                <a:srgbClr val="000000">
                  <a:alpha val="8000"/>
                </a:srgbClr>
              </a:outerShdw>
            </a:effectLst>
          </p:spPr>
          <p:txBody>
            <a:bodyPr/>
            <a:lstStyle/>
            <a:p>
              <a:endParaRPr lang="en-US" sz="3200" dirty="0"/>
            </a:p>
          </p:txBody>
        </p:sp>
        <p:sp>
          <p:nvSpPr>
            <p:cNvPr id="13" name="Shape 11"/>
            <p:cNvSpPr/>
            <p:nvPr/>
          </p:nvSpPr>
          <p:spPr>
            <a:xfrm>
              <a:off x="3154680" y="1051560"/>
              <a:ext cx="2743200" cy="746766"/>
            </a:xfrm>
            <a:prstGeom prst="rect">
              <a:avLst/>
            </a:prstGeom>
            <a:solidFill>
              <a:srgbClr val="0D9488"/>
            </a:solidFill>
            <a:ln w="12700">
              <a:solidFill>
                <a:srgbClr val="0D9488"/>
              </a:solidFill>
              <a:prstDash val="solid"/>
            </a:ln>
          </p:spPr>
          <p:txBody>
            <a:bodyPr/>
            <a:lstStyle/>
            <a:p>
              <a:endParaRPr lang="en-US" sz="3200" dirty="0"/>
            </a:p>
          </p:txBody>
        </p:sp>
        <p:sp>
          <p:nvSpPr>
            <p:cNvPr id="15" name="Text 13"/>
            <p:cNvSpPr/>
            <p:nvPr/>
          </p:nvSpPr>
          <p:spPr>
            <a:xfrm>
              <a:off x="3171306" y="1188720"/>
              <a:ext cx="256032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Deep Learning</a:t>
              </a:r>
              <a:endParaRPr lang="en-US" dirty="0"/>
            </a:p>
          </p:txBody>
        </p:sp>
        <p:sp>
          <p:nvSpPr>
            <p:cNvPr id="16" name="Text 14"/>
            <p:cNvSpPr/>
            <p:nvPr/>
          </p:nvSpPr>
          <p:spPr>
            <a:xfrm>
              <a:off x="3300153" y="2004235"/>
              <a:ext cx="256032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i="1" dirty="0">
                  <a:solidFill>
                    <a:srgbClr val="0D948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YOLOv8n Model</a:t>
              </a:r>
              <a:endParaRPr lang="en-US" dirty="0"/>
            </a:p>
          </p:txBody>
        </p:sp>
        <p:sp>
          <p:nvSpPr>
            <p:cNvPr id="17" name="Text 15"/>
            <p:cNvSpPr/>
            <p:nvPr/>
          </p:nvSpPr>
          <p:spPr>
            <a:xfrm>
              <a:off x="3171306" y="2184485"/>
              <a:ext cx="2614353" cy="1869653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342900" indent="-342900">
                <a:buSzPct val="100000"/>
                <a:buChar char="•"/>
              </a:pPr>
              <a:r>
                <a:rPr lang="en-US" dirty="0">
                  <a:solidFill>
                    <a:srgbClr val="0F17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Use Image dataset</a:t>
              </a:r>
              <a:endParaRPr lang="en-US" dirty="0"/>
            </a:p>
            <a:p>
              <a:pPr marL="342900" indent="-342900">
                <a:buSzPct val="100000"/>
                <a:buChar char="•"/>
              </a:pPr>
              <a:r>
                <a:rPr lang="en-US" dirty="0">
                  <a:solidFill>
                    <a:srgbClr val="0F17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Trained to detect plastic bottles</a:t>
              </a:r>
              <a:endParaRPr lang="en-US" dirty="0"/>
            </a:p>
          </p:txBody>
        </p:sp>
        <p:sp>
          <p:nvSpPr>
            <p:cNvPr id="18" name="Shape 16"/>
            <p:cNvSpPr/>
            <p:nvPr/>
          </p:nvSpPr>
          <p:spPr>
            <a:xfrm>
              <a:off x="6080760" y="1051560"/>
              <a:ext cx="2743200" cy="3278949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CBD5E1"/>
              </a:solidFill>
              <a:prstDash val="solid"/>
            </a:ln>
            <a:effectLst>
              <a:outerShdw blurRad="76200" dist="25400" dir="8100000" algn="bl" rotWithShape="0">
                <a:srgbClr val="000000">
                  <a:alpha val="8000"/>
                </a:srgbClr>
              </a:outerShdw>
            </a:effectLst>
          </p:spPr>
          <p:txBody>
            <a:bodyPr/>
            <a:lstStyle/>
            <a:p>
              <a:endParaRPr lang="en-US" sz="3200" dirty="0"/>
            </a:p>
          </p:txBody>
        </p:sp>
        <p:sp>
          <p:nvSpPr>
            <p:cNvPr id="19" name="Shape 17"/>
            <p:cNvSpPr/>
            <p:nvPr/>
          </p:nvSpPr>
          <p:spPr>
            <a:xfrm>
              <a:off x="6080760" y="1051560"/>
              <a:ext cx="2743200" cy="746766"/>
            </a:xfrm>
            <a:prstGeom prst="rect">
              <a:avLst/>
            </a:prstGeom>
            <a:solidFill>
              <a:srgbClr val="F59E0B"/>
            </a:solidFill>
            <a:ln w="12700">
              <a:solidFill>
                <a:srgbClr val="F59E0B"/>
              </a:solidFill>
              <a:prstDash val="solid"/>
            </a:ln>
          </p:spPr>
          <p:txBody>
            <a:bodyPr/>
            <a:lstStyle/>
            <a:p>
              <a:endParaRPr lang="en-US" sz="3200" dirty="0"/>
            </a:p>
          </p:txBody>
        </p:sp>
        <p:sp>
          <p:nvSpPr>
            <p:cNvPr id="21" name="Text 19"/>
            <p:cNvSpPr/>
            <p:nvPr/>
          </p:nvSpPr>
          <p:spPr>
            <a:xfrm>
              <a:off x="6126480" y="1174790"/>
              <a:ext cx="256032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Hybrid Detection</a:t>
              </a:r>
              <a:endParaRPr lang="en-US" dirty="0"/>
            </a:p>
          </p:txBody>
        </p:sp>
        <p:sp>
          <p:nvSpPr>
            <p:cNvPr id="22" name="Text 20"/>
            <p:cNvSpPr/>
            <p:nvPr/>
          </p:nvSpPr>
          <p:spPr>
            <a:xfrm>
              <a:off x="6172200" y="1737360"/>
              <a:ext cx="2560320" cy="88388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600" i="1" dirty="0">
                  <a:solidFill>
                    <a:srgbClr val="F59E0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Tiny YOLO + Image Filtering</a:t>
              </a:r>
              <a:endParaRPr lang="en-US" sz="1600" dirty="0"/>
            </a:p>
          </p:txBody>
        </p:sp>
        <p:sp>
          <p:nvSpPr>
            <p:cNvPr id="23" name="Text 21"/>
            <p:cNvSpPr/>
            <p:nvPr/>
          </p:nvSpPr>
          <p:spPr>
            <a:xfrm>
              <a:off x="6080760" y="2497596"/>
              <a:ext cx="2651760" cy="1111705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>
                <a:buSzPct val="100000"/>
              </a:pPr>
              <a:endParaRPr lang="en-US" dirty="0"/>
            </a:p>
            <a:p>
              <a:pPr marL="342900" indent="-342900">
                <a:buSzPct val="100000"/>
                <a:buChar char="•"/>
              </a:pPr>
              <a:r>
                <a:rPr lang="en-US" dirty="0">
                  <a:solidFill>
                    <a:srgbClr val="0F17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Medium complexity</a:t>
              </a:r>
              <a:endParaRPr lang="en-US" dirty="0"/>
            </a:p>
            <a:p>
              <a:pPr marL="342900" indent="-342900">
                <a:buSzPct val="100000"/>
                <a:buChar char="•"/>
              </a:pPr>
              <a:r>
                <a:rPr lang="en-US" dirty="0">
                  <a:solidFill>
                    <a:srgbClr val="0F17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Cost-effective</a:t>
              </a:r>
              <a:endParaRPr lang="en-US" dirty="0"/>
            </a:p>
          </p:txBody>
        </p: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3BC8F258-C8E4-4FCC-8903-720BEFF82AA5}"/>
              </a:ext>
            </a:extLst>
          </p:cNvPr>
          <p:cNvSpPr txBox="1"/>
          <p:nvPr/>
        </p:nvSpPr>
        <p:spPr>
          <a:xfrm>
            <a:off x="8763871" y="4774168"/>
            <a:ext cx="38012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A3E0AFE-787C-49EB-B39F-1B1216F93EB1}"/>
              </a:ext>
            </a:extLst>
          </p:cNvPr>
          <p:cNvSpPr txBox="1"/>
          <p:nvPr/>
        </p:nvSpPr>
        <p:spPr>
          <a:xfrm>
            <a:off x="974667" y="3849570"/>
            <a:ext cx="66294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= Distance from camera to object (in cm)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f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= Focal length of the camera (in pixels)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H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= Real-world height/width of the object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h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= Height of the bounding box of the detected object in the image (in pixels)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E9E67F7E-55F7-449D-A176-0EE53EAFB512}"/>
                  </a:ext>
                </a:extLst>
              </p:cNvPr>
              <p:cNvSpPr txBox="1"/>
              <p:nvPr/>
            </p:nvSpPr>
            <p:spPr>
              <a:xfrm>
                <a:off x="5292437" y="3728414"/>
                <a:ext cx="2500746" cy="61709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n-US" i="0">
                          <a:latin typeface="Cambria Math" panose="02040503050406030204" pitchFamily="18" charset="0"/>
                        </a:rPr>
                        <m:t> =</m:t>
                      </m:r>
                      <m:f>
                        <m:fPr>
                          <m:ctrlPr>
                            <a:rPr 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 ×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h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𝐻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E9E67F7E-55F7-449D-A176-0EE53EAFB5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2437" y="3728414"/>
                <a:ext cx="2500746" cy="61709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Shape 0">
            <a:extLst>
              <a:ext uri="{FF2B5EF4-FFF2-40B4-BE49-F238E27FC236}">
                <a16:creationId xmlns:a16="http://schemas.microsoft.com/office/drawing/2014/main" id="{0C20D758-AA30-4E75-A4BB-329DC957D5DA}"/>
              </a:ext>
            </a:extLst>
          </p:cNvPr>
          <p:cNvSpPr/>
          <p:nvPr/>
        </p:nvSpPr>
        <p:spPr>
          <a:xfrm>
            <a:off x="211281" y="3347364"/>
            <a:ext cx="5216237" cy="395254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  <p:txBody>
          <a:bodyPr/>
          <a:lstStyle/>
          <a:p>
            <a:r>
              <a:rPr lang="en-US" b="1" dirty="0">
                <a:solidFill>
                  <a:schemeClr val="bg1"/>
                </a:solidFill>
              </a:rPr>
              <a:t>Distance Measurement : (Monocular Vision Ranging)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85800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Plastic Detection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20040" y="2103120"/>
            <a:ext cx="25603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buSzPct val="100000"/>
            </a:pPr>
            <a:endParaRPr lang="en-US" sz="1150" dirty="0"/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F1640C73-93B6-4770-9FB1-4FE8D4C41EE0}"/>
              </a:ext>
            </a:extLst>
          </p:cNvPr>
          <p:cNvGrpSpPr/>
          <p:nvPr/>
        </p:nvGrpSpPr>
        <p:grpSpPr>
          <a:xfrm>
            <a:off x="364768" y="1066800"/>
            <a:ext cx="8504911" cy="3079750"/>
            <a:chOff x="228599" y="1024128"/>
            <a:chExt cx="8422481" cy="2333435"/>
          </a:xfrm>
        </p:grpSpPr>
        <p:sp>
          <p:nvSpPr>
            <p:cNvPr id="6" name="Shape 4"/>
            <p:cNvSpPr/>
            <p:nvPr/>
          </p:nvSpPr>
          <p:spPr>
            <a:xfrm>
              <a:off x="228599" y="1051560"/>
              <a:ext cx="8422481" cy="2306003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CBD5E1"/>
              </a:solidFill>
              <a:prstDash val="solid"/>
            </a:ln>
            <a:effectLst>
              <a:outerShdw blurRad="76200" dist="25400" dir="8100000" algn="bl" rotWithShape="0">
                <a:srgbClr val="000000">
                  <a:alpha val="8000"/>
                </a:srgbClr>
              </a:outerShdw>
            </a:effec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" name="Shape 5"/>
            <p:cNvSpPr/>
            <p:nvPr/>
          </p:nvSpPr>
          <p:spPr>
            <a:xfrm>
              <a:off x="228600" y="1051559"/>
              <a:ext cx="8422480" cy="393193"/>
            </a:xfrm>
            <a:prstGeom prst="rect">
              <a:avLst/>
            </a:prstGeom>
            <a:solidFill>
              <a:srgbClr val="64748B"/>
            </a:solidFill>
            <a:ln w="12700">
              <a:solidFill>
                <a:srgbClr val="64748B"/>
              </a:solidFill>
              <a:prstDash val="solid"/>
            </a:ln>
          </p:spPr>
          <p:txBody>
            <a:bodyPr/>
            <a:lstStyle/>
            <a:p>
              <a:r>
                <a:rPr lang="en-US" b="1" dirty="0">
                  <a:solidFill>
                    <a:schemeClr val="bg1"/>
                  </a:solidFill>
                </a:rPr>
                <a:t>1. Traditional Vison: </a:t>
              </a:r>
              <a:r>
                <a:rPr lang="en-US" sz="1800" b="1" dirty="0">
                  <a:solidFill>
                    <a:schemeClr val="bg1"/>
                  </a:solidFill>
                  <a:ea typeface="Calibri" pitchFamily="34" charset="-122"/>
                  <a:cs typeface="Calibri" pitchFamily="34" charset="-120"/>
                </a:rPr>
                <a:t>HSV color segmentation + edge + shape analysis</a:t>
              </a:r>
            </a:p>
            <a:p>
              <a:endParaRPr lang="en-US" b="1" dirty="0">
                <a:solidFill>
                  <a:schemeClr val="bg1"/>
                </a:solidFill>
              </a:endParaRPr>
            </a:p>
          </p:txBody>
        </p:sp>
        <p:sp>
          <p:nvSpPr>
            <p:cNvPr id="10" name="Text 8"/>
            <p:cNvSpPr/>
            <p:nvPr/>
          </p:nvSpPr>
          <p:spPr>
            <a:xfrm>
              <a:off x="2607469" y="1024128"/>
              <a:ext cx="4101941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sz="11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endParaRPr>
            </a:p>
          </p:txBody>
        </p:sp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DCACBBDC-4B90-4C03-91BC-F1637B19DFB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r="49636"/>
            <a:stretch/>
          </p:blipFill>
          <p:spPr>
            <a:xfrm>
              <a:off x="458481" y="1462184"/>
              <a:ext cx="2209916" cy="1772221"/>
            </a:xfrm>
            <a:prstGeom prst="rect">
              <a:avLst/>
            </a:prstGeom>
          </p:spPr>
        </p:pic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1D59B565-71B7-416B-8C1D-80D9DC3CFE2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49297"/>
            <a:stretch/>
          </p:blipFill>
          <p:spPr>
            <a:xfrm>
              <a:off x="3263591" y="1469397"/>
              <a:ext cx="2246697" cy="1789651"/>
            </a:xfrm>
            <a:prstGeom prst="rect">
              <a:avLst/>
            </a:prstGeom>
          </p:spPr>
        </p:pic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7D375A51-7A16-4244-AA1D-AFADF65C52E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992650" y="1526043"/>
              <a:ext cx="2106304" cy="1718458"/>
            </a:xfrm>
            <a:prstGeom prst="rect">
              <a:avLst/>
            </a:prstGeom>
          </p:spPr>
        </p:pic>
      </p:grpSp>
      <p:sp>
        <p:nvSpPr>
          <p:cNvPr id="50" name="TextBox 49">
            <a:extLst>
              <a:ext uri="{FF2B5EF4-FFF2-40B4-BE49-F238E27FC236}">
                <a16:creationId xmlns:a16="http://schemas.microsoft.com/office/drawing/2014/main" id="{5D136F15-E329-4574-883F-D8E1258A8564}"/>
              </a:ext>
            </a:extLst>
          </p:cNvPr>
          <p:cNvSpPr txBox="1"/>
          <p:nvPr/>
        </p:nvSpPr>
        <p:spPr>
          <a:xfrm>
            <a:off x="596900" y="4285388"/>
            <a:ext cx="771524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Traditional vision uses HSV color segmentation, edge detection, and shape analysis to identify plastic-like regions from camera input.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E53A0F2-DD7A-42A6-823E-DD23A467BB47}"/>
              </a:ext>
            </a:extLst>
          </p:cNvPr>
          <p:cNvSpPr txBox="1"/>
          <p:nvPr/>
        </p:nvSpPr>
        <p:spPr>
          <a:xfrm>
            <a:off x="8615110" y="4774168"/>
            <a:ext cx="38012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85800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Plastic Detection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20040" y="2103120"/>
            <a:ext cx="25603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buSzPct val="100000"/>
            </a:pPr>
            <a:endParaRPr lang="en-US" sz="1150" dirty="0"/>
          </a:p>
        </p:txBody>
      </p:sp>
      <p:sp>
        <p:nvSpPr>
          <p:cNvPr id="42" name="Shape 5">
            <a:extLst>
              <a:ext uri="{FF2B5EF4-FFF2-40B4-BE49-F238E27FC236}">
                <a16:creationId xmlns:a16="http://schemas.microsoft.com/office/drawing/2014/main" id="{2B447BC8-EEB0-4511-9A73-8DC5E62EB753}"/>
              </a:ext>
            </a:extLst>
          </p:cNvPr>
          <p:cNvSpPr/>
          <p:nvPr/>
        </p:nvSpPr>
        <p:spPr>
          <a:xfrm>
            <a:off x="406481" y="1010601"/>
            <a:ext cx="8331038" cy="367541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r>
              <a:rPr lang="en-US" sz="1800" b="1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2. YOLOV8n Deep-learning object detection model</a:t>
            </a:r>
          </a:p>
          <a:p>
            <a:endParaRPr lang="en-US" dirty="0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6B47225F-634F-42AB-9A3C-C1978E9E2A3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665" r="-825"/>
          <a:stretch/>
        </p:blipFill>
        <p:spPr bwMode="auto">
          <a:xfrm>
            <a:off x="6171351" y="2014583"/>
            <a:ext cx="2365786" cy="18088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YOLO model image processing">
            <a:extLst>
              <a:ext uri="{FF2B5EF4-FFF2-40B4-BE49-F238E27FC236}">
                <a16:creationId xmlns:a16="http://schemas.microsoft.com/office/drawing/2014/main" id="{F9B88906-706E-42C9-95CD-D61933A46F1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948" t="27000" r="33472" b="37414"/>
          <a:stretch/>
        </p:blipFill>
        <p:spPr bwMode="auto">
          <a:xfrm>
            <a:off x="5452959" y="2196990"/>
            <a:ext cx="429076" cy="11862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YOLO workflow on plastic bottle image">
            <a:extLst>
              <a:ext uri="{FF2B5EF4-FFF2-40B4-BE49-F238E27FC236}">
                <a16:creationId xmlns:a16="http://schemas.microsoft.com/office/drawing/2014/main" id="{0FBAE26A-E393-4381-AB6A-113F158A9A3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094" r="38533"/>
          <a:stretch/>
        </p:blipFill>
        <p:spPr bwMode="auto">
          <a:xfrm>
            <a:off x="3516362" y="1476871"/>
            <a:ext cx="1655661" cy="26931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id="{8916806C-53E6-4A94-9B47-B33404B6AEEE}"/>
              </a:ext>
            </a:extLst>
          </p:cNvPr>
          <p:cNvSpPr/>
          <p:nvPr/>
        </p:nvSpPr>
        <p:spPr>
          <a:xfrm>
            <a:off x="5374642" y="2741943"/>
            <a:ext cx="156633" cy="16298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2" name="Picture 2">
            <a:extLst>
              <a:ext uri="{FF2B5EF4-FFF2-40B4-BE49-F238E27FC236}">
                <a16:creationId xmlns:a16="http://schemas.microsoft.com/office/drawing/2014/main" id="{4B1A7B81-12A8-4FCE-8DA0-89E79CB4591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 bwMode="auto">
          <a:xfrm>
            <a:off x="958850" y="1983508"/>
            <a:ext cx="2268196" cy="17050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40DC5474-14B0-403E-9362-C30ABC7037A0}"/>
              </a:ext>
            </a:extLst>
          </p:cNvPr>
          <p:cNvSpPr txBox="1"/>
          <p:nvPr/>
        </p:nvSpPr>
        <p:spPr>
          <a:xfrm>
            <a:off x="693380" y="4289612"/>
            <a:ext cx="824107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YOLOv8n, trained on a plastic waste dataset, detects plastic objects from camera input and provides bounding box coordinates with confidence scores for precise pickup.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EC1ADFF-1CE1-4C83-8EF6-78260A39C632}"/>
              </a:ext>
            </a:extLst>
          </p:cNvPr>
          <p:cNvSpPr txBox="1"/>
          <p:nvPr/>
        </p:nvSpPr>
        <p:spPr>
          <a:xfrm>
            <a:off x="8615110" y="4774168"/>
            <a:ext cx="38012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20416821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Plastic Detection</a:t>
            </a:r>
            <a:endParaRPr lang="en-US" sz="2200" dirty="0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CC40DF76-A4A5-4A92-8526-48B0582334D2}"/>
              </a:ext>
            </a:extLst>
          </p:cNvPr>
          <p:cNvGrpSpPr/>
          <p:nvPr/>
        </p:nvGrpSpPr>
        <p:grpSpPr>
          <a:xfrm>
            <a:off x="1136651" y="717804"/>
            <a:ext cx="6918324" cy="2998720"/>
            <a:chOff x="1225550" y="1051560"/>
            <a:chExt cx="6762750" cy="3266440"/>
          </a:xfrm>
        </p:grpSpPr>
        <p:sp>
          <p:nvSpPr>
            <p:cNvPr id="12" name="Shape 10"/>
            <p:cNvSpPr/>
            <p:nvPr/>
          </p:nvSpPr>
          <p:spPr>
            <a:xfrm>
              <a:off x="1225550" y="1121410"/>
              <a:ext cx="6762750" cy="319659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CBD5E1"/>
              </a:solidFill>
              <a:prstDash val="solid"/>
            </a:ln>
            <a:effectLst>
              <a:outerShdw blurRad="76200" dist="25400" dir="8100000" algn="bl" rotWithShape="0">
                <a:srgbClr val="000000">
                  <a:alpha val="8000"/>
                </a:srgbClr>
              </a:outerShdw>
            </a:effec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3" name="Shape 11"/>
            <p:cNvSpPr/>
            <p:nvPr/>
          </p:nvSpPr>
          <p:spPr>
            <a:xfrm>
              <a:off x="1225550" y="1051560"/>
              <a:ext cx="6762750" cy="594360"/>
            </a:xfrm>
            <a:prstGeom prst="rect">
              <a:avLst/>
            </a:prstGeom>
            <a:solidFill>
              <a:srgbClr val="0D9488"/>
            </a:solidFill>
            <a:ln w="12700">
              <a:solidFill>
                <a:srgbClr val="0D9488"/>
              </a:solidFill>
              <a:prstDash val="solid"/>
            </a:ln>
          </p:spPr>
          <p:txBody>
            <a:bodyPr/>
            <a:lstStyle/>
            <a:p>
              <a:pPr algn="ctr"/>
              <a:r>
                <a:rPr lang="en-US" sz="2000" b="1" dirty="0">
                  <a:solidFill>
                    <a:schemeClr val="bg1"/>
                  </a:solidFill>
                </a:rPr>
                <a:t>3: Hybrid Detection</a:t>
              </a:r>
            </a:p>
          </p:txBody>
        </p:sp>
        <p:sp>
          <p:nvSpPr>
            <p:cNvPr id="16" name="Text 14"/>
            <p:cNvSpPr/>
            <p:nvPr/>
          </p:nvSpPr>
          <p:spPr>
            <a:xfrm>
              <a:off x="3441700" y="2730500"/>
              <a:ext cx="444500" cy="84455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2800" i="1" dirty="0">
                  <a:solidFill>
                    <a:srgbClr val="0D948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+</a:t>
              </a:r>
              <a:r>
                <a:rPr lang="en-US" sz="1600" i="1" dirty="0">
                  <a:solidFill>
                    <a:srgbClr val="0D948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EE90E1B1-FBB6-4BCF-AF87-E917FA8FA0B6}"/>
                </a:ext>
              </a:extLst>
            </p:cNvPr>
            <p:cNvSpPr/>
            <p:nvPr/>
          </p:nvSpPr>
          <p:spPr>
            <a:xfrm>
              <a:off x="1625600" y="2616835"/>
              <a:ext cx="1701800" cy="1212850"/>
            </a:xfrm>
            <a:prstGeom prst="rect">
              <a:avLst/>
            </a:prstGeom>
            <a:solidFill>
              <a:srgbClr val="0D9488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i="1" dirty="0"/>
                <a:t>YOLO Detection</a:t>
              </a: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E2A03B73-29EF-48CB-9401-61A122632AD6}"/>
                </a:ext>
              </a:extLst>
            </p:cNvPr>
            <p:cNvSpPr/>
            <p:nvPr/>
          </p:nvSpPr>
          <p:spPr>
            <a:xfrm>
              <a:off x="3956050" y="2639695"/>
              <a:ext cx="1701800" cy="1212850"/>
            </a:xfrm>
            <a:prstGeom prst="rect">
              <a:avLst/>
            </a:prstGeom>
            <a:solidFill>
              <a:srgbClr val="0D9488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i="1" dirty="0"/>
                <a:t>HSV Filtering</a:t>
              </a: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EDB990F8-32A4-498D-AB3E-CC3A9E878BDD}"/>
                </a:ext>
              </a:extLst>
            </p:cNvPr>
            <p:cNvSpPr/>
            <p:nvPr/>
          </p:nvSpPr>
          <p:spPr>
            <a:xfrm>
              <a:off x="6070600" y="2639695"/>
              <a:ext cx="1701800" cy="1212850"/>
            </a:xfrm>
            <a:prstGeom prst="rect">
              <a:avLst/>
            </a:prstGeom>
            <a:solidFill>
              <a:srgbClr val="0D9488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i="1" dirty="0"/>
                <a:t>Refined Detection</a:t>
              </a:r>
            </a:p>
          </p:txBody>
        </p:sp>
        <p:sp>
          <p:nvSpPr>
            <p:cNvPr id="28" name="Text 14">
              <a:extLst>
                <a:ext uri="{FF2B5EF4-FFF2-40B4-BE49-F238E27FC236}">
                  <a16:creationId xmlns:a16="http://schemas.microsoft.com/office/drawing/2014/main" id="{3F9F2DB1-FFB5-4377-B335-304D7AE7DBEF}"/>
                </a:ext>
              </a:extLst>
            </p:cNvPr>
            <p:cNvSpPr/>
            <p:nvPr/>
          </p:nvSpPr>
          <p:spPr>
            <a:xfrm>
              <a:off x="5657850" y="2800985"/>
              <a:ext cx="444500" cy="84455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2800" i="1" dirty="0">
                  <a:solidFill>
                    <a:srgbClr val="0D948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=</a:t>
              </a:r>
              <a:r>
                <a:rPr lang="en-US" sz="1600" i="1" dirty="0">
                  <a:solidFill>
                    <a:srgbClr val="0D948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</a:p>
          </p:txBody>
        </p: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2D426AF4-6F01-4B17-9ECC-205103BD1EF0}"/>
              </a:ext>
            </a:extLst>
          </p:cNvPr>
          <p:cNvSpPr txBox="1"/>
          <p:nvPr/>
        </p:nvSpPr>
        <p:spPr>
          <a:xfrm>
            <a:off x="563880" y="3939004"/>
            <a:ext cx="83058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YOLO detects candidate objects, and HSV filtering validates them to remove false positives and improve precision.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9B06F5E-B82C-4A4A-8C53-4132E7E74F3B}"/>
              </a:ext>
            </a:extLst>
          </p:cNvPr>
          <p:cNvSpPr txBox="1"/>
          <p:nvPr/>
        </p:nvSpPr>
        <p:spPr>
          <a:xfrm>
            <a:off x="8615110" y="4774168"/>
            <a:ext cx="38012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5123617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85800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&amp; Final Selection — Detection</a:t>
            </a:r>
            <a:endParaRPr lang="en-US" sz="2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3870957"/>
              </p:ext>
            </p:extLst>
          </p:nvPr>
        </p:nvGraphicFramePr>
        <p:xfrm>
          <a:off x="921328" y="962891"/>
          <a:ext cx="7481456" cy="2859305"/>
        </p:xfrm>
        <a:graphic>
          <a:graphicData uri="http://schemas.openxmlformats.org/drawingml/2006/table">
            <a:tbl>
              <a:tblPr/>
              <a:tblGrid>
                <a:gridCol w="21258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51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851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851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6534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Parameter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Traditional HSV 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YOLOv8n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Hybrid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6534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Accuracy</a:t>
                      </a:r>
                      <a:endParaRPr 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66%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82%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85%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2712075"/>
                  </a:ext>
                </a:extLst>
              </a:tr>
              <a:tr h="346534">
                <a:tc>
                  <a:txBody>
                    <a:bodyPr/>
                    <a:lstStyle/>
                    <a:p>
                      <a:pPr algn="ctr"/>
                      <a:r>
                        <a:rPr lang="en-US" sz="1400" b="1"/>
                        <a:t>Precision</a:t>
                      </a:r>
                      <a:endParaRPr lang="en-US" sz="1400"/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67.8%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86.67%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89.8%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6534">
                <a:tc>
                  <a:txBody>
                    <a:bodyPr/>
                    <a:lstStyle/>
                    <a:p>
                      <a:pPr algn="ctr"/>
                      <a:r>
                        <a:rPr lang="en-US" sz="1400" b="1"/>
                        <a:t>Recall</a:t>
                      </a:r>
                      <a:endParaRPr lang="en-US" sz="1400"/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61%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/>
                        <a:t>84.78%</a:t>
                      </a:r>
                      <a:endParaRPr lang="en-US" sz="1400"/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79%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6534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False Positive Rate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29%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12%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9%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7529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Computational cost</a:t>
                      </a:r>
                      <a:r>
                        <a:rPr lang="en-US" sz="1400" dirty="0"/>
                        <a:t> 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Low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High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High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9106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Reliability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Low (lighting sensitive)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High (robust)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Medium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14350" y="4094834"/>
            <a:ext cx="8115300" cy="568606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640080" y="4030826"/>
            <a:ext cx="7863840" cy="63261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Selected Solution: YOLOv8n Deep Learning-Based Detection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335A2C2-6D4E-48FE-AD3B-B7C91DE4B871}"/>
              </a:ext>
            </a:extLst>
          </p:cNvPr>
          <p:cNvSpPr txBox="1"/>
          <p:nvPr/>
        </p:nvSpPr>
        <p:spPr>
          <a:xfrm>
            <a:off x="8615110" y="4774168"/>
            <a:ext cx="38012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7465"/>
            <a:ext cx="9144000" cy="759624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85800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Sub-system solutions — Navigation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40029" y="2789939"/>
            <a:ext cx="4297679" cy="227228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40026" y="2348910"/>
            <a:ext cx="4297681" cy="502920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37157" y="2345703"/>
            <a:ext cx="440055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LiDAR-Based Navigation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262887" y="2470374"/>
            <a:ext cx="3794760" cy="273068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buSzPct val="100000"/>
            </a:pPr>
            <a:r>
              <a:rPr lang="en-US" sz="2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Sensor: LIDAR</a:t>
            </a:r>
          </a:p>
          <a:p>
            <a:pPr marL="342900" indent="-342900">
              <a:buSzPct val="100000"/>
              <a:buFont typeface="Wingdings" panose="05000000000000000000" pitchFamily="2" charset="2"/>
              <a:buChar char="Ø"/>
            </a:pPr>
            <a:r>
              <a:rPr lang="en-US" sz="2200" dirty="0"/>
              <a:t>Uses high-resolution </a:t>
            </a:r>
          </a:p>
          <a:p>
            <a:pPr>
              <a:buSzPct val="100000"/>
            </a:pPr>
            <a:r>
              <a:rPr lang="en-US" sz="2200" dirty="0"/>
              <a:t>360° scanning to create</a:t>
            </a:r>
          </a:p>
          <a:p>
            <a:pPr>
              <a:buSzPct val="100000"/>
            </a:pPr>
            <a:r>
              <a:rPr lang="en-US" sz="2200" dirty="0"/>
              <a:t>Sharp grid maps for</a:t>
            </a:r>
          </a:p>
          <a:p>
            <a:pPr>
              <a:buSzPct val="100000"/>
            </a:pPr>
            <a:r>
              <a:rPr lang="en-US" sz="2200" dirty="0"/>
              <a:t>accurate navigation</a:t>
            </a:r>
          </a:p>
          <a:p>
            <a:pPr>
              <a:buSzPct val="100000"/>
            </a:pPr>
            <a:r>
              <a:rPr lang="en-US" sz="2200" dirty="0"/>
              <a:t>and path planning.</a:t>
            </a:r>
          </a:p>
        </p:txBody>
      </p:sp>
      <p:sp>
        <p:nvSpPr>
          <p:cNvPr id="10" name="Shape 8"/>
          <p:cNvSpPr/>
          <p:nvPr/>
        </p:nvSpPr>
        <p:spPr>
          <a:xfrm>
            <a:off x="4617721" y="2531579"/>
            <a:ext cx="4251959" cy="253064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617721" y="2348910"/>
            <a:ext cx="4251959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617719" y="2345703"/>
            <a:ext cx="4251961" cy="51960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Ultrasonic-Based Navigation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617718" y="2607353"/>
            <a:ext cx="4251958" cy="24567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buSzPct val="100000"/>
            </a:pPr>
            <a:r>
              <a:rPr lang="en-US" sz="2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Sensor: Ultrasonic Sensors</a:t>
            </a:r>
          </a:p>
          <a:p>
            <a:pPr marL="171450" indent="-171450">
              <a:buSzPct val="100000"/>
              <a:buFont typeface="Wingdings" panose="05000000000000000000" pitchFamily="2" charset="2"/>
              <a:buChar char="Ø"/>
            </a:pPr>
            <a:r>
              <a:rPr lang="en-US" sz="2200" dirty="0"/>
              <a:t>Uses multi-sensor</a:t>
            </a:r>
          </a:p>
          <a:p>
            <a:pPr>
              <a:buSzPct val="100000"/>
            </a:pPr>
            <a:r>
              <a:rPr lang="en-US" sz="2200" dirty="0"/>
              <a:t>distance measurement</a:t>
            </a:r>
          </a:p>
          <a:p>
            <a:pPr>
              <a:buSzPct val="100000"/>
            </a:pPr>
            <a:r>
              <a:rPr lang="en-US" sz="2200" dirty="0"/>
              <a:t>to detect obstacles,</a:t>
            </a:r>
          </a:p>
          <a:p>
            <a:pPr>
              <a:buSzPct val="100000"/>
            </a:pPr>
            <a:r>
              <a:rPr lang="en-US" sz="2200" dirty="0"/>
              <a:t>but provides coarse </a:t>
            </a:r>
          </a:p>
          <a:p>
            <a:pPr>
              <a:buSzPct val="100000"/>
            </a:pPr>
            <a:r>
              <a:rPr lang="en-US" sz="2200" dirty="0"/>
              <a:t>and noisy environment mapping.</a:t>
            </a:r>
          </a:p>
        </p:txBody>
      </p:sp>
      <p:pic>
        <p:nvPicPr>
          <p:cNvPr id="17" name="Picture 2" descr="SLAMTEC RPLIDAR A2 2D 360 12 Meters Scanning Radius Lidar Sensor ...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0670" y="3135519"/>
            <a:ext cx="1409442" cy="140038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25" name="Rectangle 24"/>
          <p:cNvSpPr/>
          <p:nvPr/>
        </p:nvSpPr>
        <p:spPr>
          <a:xfrm>
            <a:off x="3104085" y="863584"/>
            <a:ext cx="3027271" cy="144655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sz="2200" b="1" dirty="0"/>
              <a:t>Feature</a:t>
            </a:r>
          </a:p>
          <a:p>
            <a:pPr algn="ctr"/>
            <a:r>
              <a:rPr lang="en-US" sz="2200" dirty="0"/>
              <a:t>Sensor-based mapping for dynamic environment adaptation.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91174" y="864747"/>
            <a:ext cx="2678503" cy="144655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200" b="1" dirty="0"/>
              <a:t>Capabilities</a:t>
            </a:r>
          </a:p>
          <a:p>
            <a:pPr algn="ctr"/>
            <a:r>
              <a:rPr lang="en-US" sz="2200" dirty="0"/>
              <a:t>Safe motion via real-time static &amp; dynamic obstacle avoidance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40030" y="869725"/>
            <a:ext cx="2770568" cy="144655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Goal</a:t>
            </a:r>
          </a:p>
          <a:p>
            <a:pPr algn="ctr"/>
            <a:r>
              <a:rPr lang="en-US" sz="2200" dirty="0"/>
              <a:t>Navigate autonomously without human control.</a:t>
            </a:r>
          </a:p>
        </p:txBody>
      </p:sp>
      <p:pic>
        <p:nvPicPr>
          <p:cNvPr id="28" name="Picture 2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7081" y="3181957"/>
            <a:ext cx="1387813" cy="1310124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57AF0684-05C3-4373-8357-E8AA8B8D1A9D}"/>
              </a:ext>
            </a:extLst>
          </p:cNvPr>
          <p:cNvSpPr txBox="1"/>
          <p:nvPr/>
        </p:nvSpPr>
        <p:spPr>
          <a:xfrm>
            <a:off x="8677357" y="4808733"/>
            <a:ext cx="4539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85800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4"/>
          <p:cNvSpPr/>
          <p:nvPr/>
        </p:nvSpPr>
        <p:spPr>
          <a:xfrm>
            <a:off x="175177" y="1313234"/>
            <a:ext cx="4297679" cy="3690623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5"/>
          <p:cNvSpPr/>
          <p:nvPr/>
        </p:nvSpPr>
        <p:spPr>
          <a:xfrm>
            <a:off x="175175" y="868680"/>
            <a:ext cx="4297681" cy="502920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5"/>
          <p:cNvSpPr/>
          <p:nvPr/>
        </p:nvSpPr>
        <p:spPr>
          <a:xfrm>
            <a:off x="4656383" y="868680"/>
            <a:ext cx="4297681" cy="502920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4656385" y="1371600"/>
            <a:ext cx="4297679" cy="3632257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2" name="Ultrasonic Final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4656385" y="1371600"/>
            <a:ext cx="4297680" cy="3252281"/>
          </a:xfrm>
          <a:prstGeom prst="rect">
            <a:avLst/>
          </a:prstGeom>
        </p:spPr>
      </p:pic>
      <p:pic>
        <p:nvPicPr>
          <p:cNvPr id="13" name="Lidar final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175177" y="1371599"/>
            <a:ext cx="4297679" cy="325228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75177" y="908773"/>
            <a:ext cx="429767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LiDAR-Based Navigation</a:t>
            </a:r>
            <a:endParaRPr lang="en-US" sz="2200" dirty="0"/>
          </a:p>
        </p:txBody>
      </p:sp>
      <p:sp>
        <p:nvSpPr>
          <p:cNvPr id="19" name="TextBox 18"/>
          <p:cNvSpPr txBox="1"/>
          <p:nvPr/>
        </p:nvSpPr>
        <p:spPr>
          <a:xfrm>
            <a:off x="4656385" y="868680"/>
            <a:ext cx="429767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b="1" dirty="0">
                <a:solidFill>
                  <a:schemeClr val="bg1"/>
                </a:solidFill>
              </a:rPr>
              <a:t>Ultrasonic-Based</a:t>
            </a:r>
            <a:r>
              <a:rPr lang="en-US" sz="2200" b="1" dirty="0"/>
              <a:t> </a:t>
            </a:r>
            <a:r>
              <a:rPr lang="en-US" sz="2200" b="1" dirty="0">
                <a:solidFill>
                  <a:schemeClr val="bg1"/>
                </a:solidFill>
              </a:rPr>
              <a:t>Navigation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0" y="130960"/>
            <a:ext cx="9144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solidFill>
                  <a:schemeClr val="bg1"/>
                </a:solidFill>
              </a:rPr>
              <a:t>Comparison of Sensor-based Grid mapping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9AE0446-B445-4BB3-8920-DC8FDB31BAD8}"/>
              </a:ext>
            </a:extLst>
          </p:cNvPr>
          <p:cNvSpPr txBox="1"/>
          <p:nvPr/>
        </p:nvSpPr>
        <p:spPr>
          <a:xfrm>
            <a:off x="8541328" y="4774168"/>
            <a:ext cx="4539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7064854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1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  <p:video>
              <p:cMediaNode vol="80000">
                <p:cTn id="13" fill="hold" display="0">
                  <p:stCondLst>
                    <p:cond delay="indefinite"/>
                  </p:stCondLst>
                </p:cTn>
                <p:tgtEl>
                  <p:spTgt spid="13"/>
                </p:tgtEl>
              </p:cMediaNode>
            </p:video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85800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Comparison &amp; Final Selection — Navigation</a:t>
            </a:r>
            <a:endParaRPr lang="en-US" sz="2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/>
        </p:nvGraphicFramePr>
        <p:xfrm>
          <a:off x="274319" y="837876"/>
          <a:ext cx="8642701" cy="3167199"/>
        </p:xfrm>
        <a:graphic>
          <a:graphicData uri="http://schemas.openxmlformats.org/drawingml/2006/table">
            <a:tbl>
              <a:tblPr/>
              <a:tblGrid>
                <a:gridCol w="35587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419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419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245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Criteria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LiDAR System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Ultrasonic System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245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~90% (High)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~75–80% (Medium)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245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245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Computational Load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245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Response Time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~0.1s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~0.1–0.3s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245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Motion Smoothness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~95%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</a:t>
                      </a:r>
                      <a:r>
                        <a:rPr lang="en-US" sz="20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87%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245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Tracking Error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Very Low (~cm)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 (~few cm) 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Shape 3"/>
          <p:cNvSpPr/>
          <p:nvPr/>
        </p:nvSpPr>
        <p:spPr>
          <a:xfrm>
            <a:off x="457200" y="4069080"/>
            <a:ext cx="8229600" cy="937422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12700">
            <a:solidFill>
              <a:srgbClr val="1A2E44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457200" y="4069081"/>
            <a:ext cx="8229600" cy="9374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Selected Solution: LiDAR-Based Navigation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2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Justify: LiDAR for its high-accuracy mapping, sharp grid-based environment analysis, and reliable navigation in dynamic conditions.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ABF2D7A-AE76-4E40-B129-61F1026AF20E}"/>
              </a:ext>
            </a:extLst>
          </p:cNvPr>
          <p:cNvSpPr txBox="1"/>
          <p:nvPr/>
        </p:nvSpPr>
        <p:spPr>
          <a:xfrm>
            <a:off x="8668789" y="4763777"/>
            <a:ext cx="4539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85800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28600" y="704088"/>
            <a:ext cx="8314509" cy="640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cap="all" dirty="0">
                <a:solidFill>
                  <a:schemeClr val="bg1">
                    <a:lumMod val="85000"/>
                  </a:schemeClr>
                </a:solidFill>
              </a:rPr>
              <a:t>Waste Collection Subsystem</a:t>
            </a:r>
          </a:p>
          <a:p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Mission Objective &amp; Evaluated Solutions</a:t>
            </a:r>
          </a:p>
          <a:p>
            <a:br>
              <a:rPr lang="en-US" sz="2800" dirty="0">
                <a:solidFill>
                  <a:schemeClr val="bg1">
                    <a:lumMod val="85000"/>
                  </a:schemeClr>
                </a:solidFill>
              </a:rPr>
            </a:br>
            <a:endParaRPr lang="en-US" sz="24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274319" y="1239015"/>
            <a:ext cx="8937057" cy="64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dirty="0"/>
              <a:t>The goal of this subsystem is to autonomously detect, accurately pick up a plastic bottle from uneven outdoor terrain, and successfully drop it into the designated onboard storage bin.</a:t>
            </a:r>
          </a:p>
        </p:txBody>
      </p:sp>
      <p:sp>
        <p:nvSpPr>
          <p:cNvPr id="7" name="Shape 5"/>
          <p:cNvSpPr/>
          <p:nvPr/>
        </p:nvSpPr>
        <p:spPr>
          <a:xfrm>
            <a:off x="243038" y="1856237"/>
            <a:ext cx="2743200" cy="598871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34478" y="1856238"/>
            <a:ext cx="2560320" cy="27640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chemeClr val="accent6">
                    <a:lumMod val="40000"/>
                    <a:lumOff val="6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1</a:t>
            </a:r>
            <a:endParaRPr lang="en-US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334478" y="2103125"/>
            <a:ext cx="2560320" cy="3224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Robotic Arm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34478" y="2542037"/>
            <a:ext cx="2560320" cy="3224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80198" y="2872745"/>
            <a:ext cx="2560320" cy="16630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3169118" y="1985808"/>
            <a:ext cx="2743200" cy="3026603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169118" y="1546461"/>
            <a:ext cx="2743200" cy="598871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169118" y="1612364"/>
            <a:ext cx="2560320" cy="27640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chemeClr val="accent6">
                    <a:lumMod val="40000"/>
                    <a:lumOff val="6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2</a:t>
            </a:r>
            <a:endParaRPr lang="en-US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5" name="Text 13"/>
          <p:cNvSpPr/>
          <p:nvPr/>
        </p:nvSpPr>
        <p:spPr>
          <a:xfrm>
            <a:off x="3169118" y="1758221"/>
            <a:ext cx="2560320" cy="3224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Conveyor Belt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3260558" y="2542037"/>
            <a:ext cx="2560320" cy="3224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260558" y="3362161"/>
            <a:ext cx="2743200" cy="43302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dirty="0"/>
              <a:t>A motorized sliding base that moves a collector along a track.</a:t>
            </a:r>
            <a:br>
              <a:rPr lang="en-US" sz="2000" dirty="0"/>
            </a:br>
            <a:r>
              <a:rPr lang="en-US" sz="2000" b="1" dirty="0"/>
              <a:t>Pros:</a:t>
            </a:r>
            <a:r>
              <a:rPr lang="en-US" sz="2000" dirty="0"/>
              <a:t> Simple to build.</a:t>
            </a:r>
            <a:br>
              <a:rPr lang="en-US" sz="2000" dirty="0"/>
            </a:br>
            <a:r>
              <a:rPr lang="en-US" sz="2000" b="1" dirty="0"/>
              <a:t>Cons:</a:t>
            </a:r>
            <a:r>
              <a:rPr lang="en-US" sz="2000" dirty="0"/>
              <a:t> Restricted to 2D movement and consumes massive battery power fighting friction.</a:t>
            </a:r>
          </a:p>
        </p:txBody>
      </p:sp>
      <p:sp>
        <p:nvSpPr>
          <p:cNvPr id="18" name="Shape 16"/>
          <p:cNvSpPr/>
          <p:nvPr/>
        </p:nvSpPr>
        <p:spPr>
          <a:xfrm>
            <a:off x="6095198" y="1856238"/>
            <a:ext cx="2743200" cy="285051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095198" y="1856237"/>
            <a:ext cx="2743200" cy="598871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186638" y="1856238"/>
            <a:ext cx="2560320" cy="27640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chemeClr val="accent6">
                    <a:lumMod val="40000"/>
                    <a:lumOff val="6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3</a:t>
            </a:r>
            <a:endParaRPr lang="en-US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1" name="Text 19"/>
          <p:cNvSpPr/>
          <p:nvPr/>
        </p:nvSpPr>
        <p:spPr>
          <a:xfrm>
            <a:off x="6186638" y="2103125"/>
            <a:ext cx="2560320" cy="3224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Vacuum Pickup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6186638" y="2542037"/>
            <a:ext cx="2560320" cy="3224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164867" y="2779999"/>
            <a:ext cx="2560321" cy="168605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dirty="0"/>
              <a:t>A robotic arm that uses a suction pad to grab items.</a:t>
            </a:r>
            <a:br>
              <a:rPr lang="en-US" sz="2000" dirty="0"/>
            </a:br>
            <a:r>
              <a:rPr lang="en-US" sz="2000" b="1" dirty="0"/>
              <a:t>Pros:</a:t>
            </a:r>
            <a:r>
              <a:rPr lang="en-US" sz="2000" dirty="0"/>
              <a:t> Easy grabbing.</a:t>
            </a:r>
            <a:br>
              <a:rPr lang="en-US" sz="2000" dirty="0"/>
            </a:br>
            <a:r>
              <a:rPr lang="en-US" sz="2000" b="1" dirty="0"/>
              <a:t>Cons:</a:t>
            </a:r>
            <a:r>
              <a:rPr lang="en-US" sz="2000" dirty="0"/>
              <a:t> Highly unstable; causing it to drop bottles.</a:t>
            </a:r>
          </a:p>
        </p:txBody>
      </p:sp>
      <p:sp>
        <p:nvSpPr>
          <p:cNvPr id="24" name="Shape 10">
            <a:extLst>
              <a:ext uri="{FF2B5EF4-FFF2-40B4-BE49-F238E27FC236}">
                <a16:creationId xmlns:a16="http://schemas.microsoft.com/office/drawing/2014/main" id="{983944B0-EE4B-AED6-3AD8-F8EF5ACA88CA}"/>
              </a:ext>
            </a:extLst>
          </p:cNvPr>
          <p:cNvSpPr/>
          <p:nvPr/>
        </p:nvSpPr>
        <p:spPr>
          <a:xfrm>
            <a:off x="243038" y="2450598"/>
            <a:ext cx="2743200" cy="225615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r>
              <a:rPr lang="en-US" sz="2000" dirty="0"/>
              <a:t>An articulated arm with gripper.</a:t>
            </a:r>
            <a:br>
              <a:rPr lang="en-US" sz="2000" dirty="0"/>
            </a:br>
            <a:r>
              <a:rPr lang="en-US" sz="2000" b="1" dirty="0"/>
              <a:t>Pros:</a:t>
            </a:r>
            <a:r>
              <a:rPr lang="en-US" sz="2000" dirty="0"/>
              <a:t> Full 3D spatial reach, smooth movement, and tight grip. Selected as our main proposed solution.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D085E63-32E5-47A4-8B9D-BE51AE19D04B}"/>
              </a:ext>
            </a:extLst>
          </p:cNvPr>
          <p:cNvSpPr txBox="1"/>
          <p:nvPr/>
        </p:nvSpPr>
        <p:spPr>
          <a:xfrm>
            <a:off x="8541328" y="4774168"/>
            <a:ext cx="4539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85800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&amp; Final Selection — Waste Pickup</a:t>
            </a:r>
            <a:endParaRPr lang="en-US" sz="2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9508637"/>
              </p:ext>
            </p:extLst>
          </p:nvPr>
        </p:nvGraphicFramePr>
        <p:xfrm>
          <a:off x="457199" y="944881"/>
          <a:ext cx="8229601" cy="2995568"/>
        </p:xfrm>
        <a:graphic>
          <a:graphicData uri="http://schemas.openxmlformats.org/drawingml/2006/table">
            <a:tbl>
              <a:tblPr/>
              <a:tblGrid>
                <a:gridCol w="26185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03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703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703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42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Criteria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Robotic Arm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Conveyor Belt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Vacuum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42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Path Accuracy (RMSE)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 dirty="0">
                          <a:solidFill>
                            <a:srgbClr val="334155"/>
                          </a:solidFill>
                          <a:effectLst/>
                        </a:rPr>
                        <a:t>0.0020 rad</a:t>
                      </a: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>
                          <a:solidFill>
                            <a:srgbClr val="334155"/>
                          </a:solidFill>
                          <a:effectLst/>
                        </a:rPr>
                        <a:t>0.0150 m</a:t>
                      </a: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0.0350 rad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42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Avg. Settling Time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0.85 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>
                          <a:solidFill>
                            <a:srgbClr val="334155"/>
                          </a:solidFill>
                          <a:effectLst/>
                        </a:rPr>
                        <a:t>2.15 s</a:t>
                      </a: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3.80s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42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Peak Actuator Torque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 dirty="0">
                          <a:solidFill>
                            <a:srgbClr val="334155"/>
                          </a:solidFill>
                          <a:effectLst/>
                        </a:rPr>
                        <a:t>0.55 Nm (Safe)</a:t>
                      </a: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>
                          <a:solidFill>
                            <a:srgbClr val="334155"/>
                          </a:solidFill>
                          <a:effectLst/>
                        </a:rPr>
                        <a:t>12.5 N(Friction)</a:t>
                      </a: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dirty="0">
                          <a:solidFill>
                            <a:srgbClr val="334155"/>
                          </a:solidFill>
                          <a:effectLst/>
                        </a:rPr>
                        <a:t>0.85 Nm (Heavy)</a:t>
                      </a: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42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Total Motor Energy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28.4 Joules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>
                          <a:solidFill>
                            <a:srgbClr val="334155"/>
                          </a:solidFill>
                          <a:effectLst/>
                        </a:rPr>
                        <a:t>55.6 Joules</a:t>
                      </a: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dirty="0">
                          <a:solidFill>
                            <a:srgbClr val="334155"/>
                          </a:solidFill>
                          <a:effectLst/>
                        </a:rPr>
                        <a:t>142.5 Joules</a:t>
                      </a: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14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Workspace Reach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3D Spatial (Flexible)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2D Plane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>
                          <a:solidFill>
                            <a:srgbClr val="334155"/>
                          </a:solidFill>
                          <a:effectLst/>
                        </a:rPr>
                        <a:t>3D Spatial </a:t>
                      </a: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315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Hardware Cost (Est)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as-IN" sz="18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৳ 7,430 </a:t>
                      </a:r>
                      <a:r>
                        <a:rPr lang="en-US" sz="18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BDT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as-IN" sz="1600" dirty="0">
                          <a:solidFill>
                            <a:srgbClr val="334155"/>
                          </a:solidFill>
                          <a:effectLst/>
                        </a:rPr>
                        <a:t>৳ 3,500 </a:t>
                      </a:r>
                      <a:r>
                        <a:rPr lang="en-US" sz="1600" dirty="0">
                          <a:solidFill>
                            <a:srgbClr val="334155"/>
                          </a:solidFill>
                          <a:effectLst/>
                        </a:rPr>
                        <a:t>BDT</a:t>
                      </a: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as-IN" sz="1800" dirty="0">
                          <a:solidFill>
                            <a:srgbClr val="334155"/>
                          </a:solidFill>
                          <a:effectLst/>
                        </a:rPr>
                        <a:t>৳ 8,000 </a:t>
                      </a:r>
                      <a:r>
                        <a:rPr lang="en-US" sz="1800" dirty="0">
                          <a:solidFill>
                            <a:srgbClr val="334155"/>
                          </a:solidFill>
                          <a:effectLst/>
                        </a:rPr>
                        <a:t>BDT</a:t>
                      </a: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4620688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4013200"/>
            <a:ext cx="8229600" cy="650240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640080" y="3886200"/>
            <a:ext cx="7863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</a:t>
            </a:r>
            <a:r>
              <a:rPr lang="en-US" sz="1600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Solution: </a:t>
            </a:r>
            <a:r>
              <a:rPr lang="en-US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Gripping Arm </a:t>
            </a:r>
            <a:r>
              <a:rPr lang="en-US" sz="1600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Mechanism</a:t>
            </a:r>
            <a:endParaRPr lang="en-US" sz="1600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BED9592-80E6-4860-B034-B554DE67997D}"/>
              </a:ext>
            </a:extLst>
          </p:cNvPr>
          <p:cNvSpPr txBox="1"/>
          <p:nvPr/>
        </p:nvSpPr>
        <p:spPr>
          <a:xfrm>
            <a:off x="8541328" y="4774168"/>
            <a:ext cx="4539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4C741C-CFA4-EC84-C824-F45A3EE57D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00D0AB5-C493-534E-D2D3-1F568AAE5E31}"/>
              </a:ext>
            </a:extLst>
          </p:cNvPr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35FBF893-4256-5670-D1A3-C94D3831BA66}"/>
              </a:ext>
            </a:extLst>
          </p:cNvPr>
          <p:cNvSpPr/>
          <p:nvPr/>
        </p:nvSpPr>
        <p:spPr>
          <a:xfrm>
            <a:off x="0" y="685800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983FAAA1-5949-2AEB-1641-D0CA19C80D7F}"/>
              </a:ext>
            </a:extLst>
          </p:cNvPr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b="1" dirty="0">
                <a:solidFill>
                  <a:schemeClr val="bg1">
                    <a:lumMod val="85000"/>
                  </a:schemeClr>
                </a:solidFill>
              </a:rPr>
              <a:t>Gripping Arm</a:t>
            </a:r>
            <a:endParaRPr lang="en-US" b="1" cap="all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D02BAAC2-3C68-C9F9-0255-322AD1538E84}"/>
              </a:ext>
            </a:extLst>
          </p:cNvPr>
          <p:cNvSpPr/>
          <p:nvPr/>
        </p:nvSpPr>
        <p:spPr>
          <a:xfrm>
            <a:off x="274320" y="749808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509DD140-9E00-F96D-08C0-3FBEAB364488}"/>
              </a:ext>
            </a:extLst>
          </p:cNvPr>
          <p:cNvSpPr/>
          <p:nvPr/>
        </p:nvSpPr>
        <p:spPr>
          <a:xfrm>
            <a:off x="1405288" y="179832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514422B7-5124-699E-01B7-0BBE9947DE6A}"/>
              </a:ext>
            </a:extLst>
          </p:cNvPr>
          <p:cNvSpPr/>
          <p:nvPr/>
        </p:nvSpPr>
        <p:spPr>
          <a:xfrm>
            <a:off x="8589922" y="868680"/>
            <a:ext cx="466143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97DDBF4D-B389-00E4-20B0-AB616A0A943B}"/>
              </a:ext>
            </a:extLst>
          </p:cNvPr>
          <p:cNvSpPr/>
          <p:nvPr/>
        </p:nvSpPr>
        <p:spPr>
          <a:xfrm>
            <a:off x="457200" y="461772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6" name="Shape 9">
            <a:extLst>
              <a:ext uri="{FF2B5EF4-FFF2-40B4-BE49-F238E27FC236}">
                <a16:creationId xmlns:a16="http://schemas.microsoft.com/office/drawing/2014/main" id="{49082546-806C-3D2A-581F-B5D5976A96A9}"/>
              </a:ext>
            </a:extLst>
          </p:cNvPr>
          <p:cNvSpPr/>
          <p:nvPr/>
        </p:nvSpPr>
        <p:spPr>
          <a:xfrm>
            <a:off x="8589922" y="4561171"/>
            <a:ext cx="466143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F7A024E0-8036-D1CA-7779-9A7E2CF805D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40782" y="3161035"/>
            <a:ext cx="4908734" cy="1804157"/>
          </a:xfrm>
          <a:prstGeom prst="rect">
            <a:avLst/>
          </a:prstGeom>
        </p:spPr>
      </p:pic>
      <p:sp>
        <p:nvSpPr>
          <p:cNvPr id="21" name="Shape 10">
            <a:extLst>
              <a:ext uri="{FF2B5EF4-FFF2-40B4-BE49-F238E27FC236}">
                <a16:creationId xmlns:a16="http://schemas.microsoft.com/office/drawing/2014/main" id="{DC49104B-1D3E-B645-3A88-76C74E84BFC3}"/>
              </a:ext>
            </a:extLst>
          </p:cNvPr>
          <p:cNvSpPr/>
          <p:nvPr/>
        </p:nvSpPr>
        <p:spPr>
          <a:xfrm>
            <a:off x="240782" y="1256338"/>
            <a:ext cx="4908733" cy="1872835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22" name="Shape 11">
            <a:extLst>
              <a:ext uri="{FF2B5EF4-FFF2-40B4-BE49-F238E27FC236}">
                <a16:creationId xmlns:a16="http://schemas.microsoft.com/office/drawing/2014/main" id="{C6C826E4-BFD7-E2B6-D424-5F658115C8F0}"/>
              </a:ext>
            </a:extLst>
          </p:cNvPr>
          <p:cNvSpPr/>
          <p:nvPr/>
        </p:nvSpPr>
        <p:spPr>
          <a:xfrm>
            <a:off x="240782" y="836836"/>
            <a:ext cx="4908734" cy="5943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pPr algn="ctr"/>
            <a:r>
              <a:rPr lang="en-US" b="1" dirty="0">
                <a:solidFill>
                  <a:schemeClr val="bg1">
                    <a:lumMod val="85000"/>
                  </a:schemeClr>
                </a:solidFill>
              </a:rPr>
              <a:t>Hardware Specifications</a:t>
            </a:r>
          </a:p>
        </p:txBody>
      </p:sp>
      <p:sp>
        <p:nvSpPr>
          <p:cNvPr id="23" name="Text 13">
            <a:extLst>
              <a:ext uri="{FF2B5EF4-FFF2-40B4-BE49-F238E27FC236}">
                <a16:creationId xmlns:a16="http://schemas.microsoft.com/office/drawing/2014/main" id="{0A11F9CC-4922-890D-D63A-9CE1D560D5C3}"/>
              </a:ext>
            </a:extLst>
          </p:cNvPr>
          <p:cNvSpPr/>
          <p:nvPr/>
        </p:nvSpPr>
        <p:spPr>
          <a:xfrm>
            <a:off x="204537" y="1155753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24" name="Text 15">
            <a:extLst>
              <a:ext uri="{FF2B5EF4-FFF2-40B4-BE49-F238E27FC236}">
                <a16:creationId xmlns:a16="http://schemas.microsoft.com/office/drawing/2014/main" id="{9DE0FE5D-5417-02B9-1951-C665BEEFECF6}"/>
              </a:ext>
            </a:extLst>
          </p:cNvPr>
          <p:cNvSpPr/>
          <p:nvPr/>
        </p:nvSpPr>
        <p:spPr>
          <a:xfrm>
            <a:off x="175888" y="1392254"/>
            <a:ext cx="4908732" cy="169220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000" b="1" dirty="0"/>
              <a:t>Structure:</a:t>
            </a:r>
            <a:r>
              <a:rPr lang="en-US" sz="2000" dirty="0"/>
              <a:t> 18 × 18 × 6 cm</a:t>
            </a:r>
          </a:p>
          <a:p>
            <a:pPr algn="ctr"/>
            <a:r>
              <a:rPr lang="en-US" sz="2000" b="1" dirty="0"/>
              <a:t>Actuator:</a:t>
            </a:r>
            <a:r>
              <a:rPr lang="en-US" sz="2000" dirty="0"/>
              <a:t> Servo Motor MG996R</a:t>
            </a:r>
          </a:p>
          <a:p>
            <a:pPr algn="ctr"/>
            <a:r>
              <a:rPr lang="en-US" sz="2000" b="1" dirty="0"/>
              <a:t>Motor Driver:</a:t>
            </a:r>
            <a:r>
              <a:rPr lang="en-US" sz="2000" dirty="0"/>
              <a:t> PCA9685</a:t>
            </a:r>
          </a:p>
          <a:p>
            <a:pPr algn="ctr"/>
            <a:r>
              <a:rPr lang="en-US" sz="2000" b="1" dirty="0"/>
              <a:t>Gear Type:</a:t>
            </a:r>
            <a:r>
              <a:rPr lang="en-US" sz="2000" dirty="0"/>
              <a:t> Metal Gear</a:t>
            </a:r>
          </a:p>
          <a:p>
            <a:pPr algn="ctr"/>
            <a:r>
              <a:rPr lang="en-US" sz="2000" b="1" dirty="0"/>
              <a:t>MCU:</a:t>
            </a:r>
            <a:r>
              <a:rPr lang="en-US" sz="2000" dirty="0"/>
              <a:t> Arduino Uno</a:t>
            </a:r>
          </a:p>
        </p:txBody>
      </p:sp>
      <p:pic>
        <p:nvPicPr>
          <p:cNvPr id="2050" name="Picture 2" descr="Complete Robotic Arm 6DOF Degrees of Freedom for Arduino: Buy Online at  Best Price in Egypt - Souq is now Amazon.eg">
            <a:extLst>
              <a:ext uri="{FF2B5EF4-FFF2-40B4-BE49-F238E27FC236}">
                <a16:creationId xmlns:a16="http://schemas.microsoft.com/office/drawing/2014/main" id="{B60C53EF-DD30-B8FB-D60D-6BB72108BE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14409" y="1256338"/>
            <a:ext cx="3310619" cy="34306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46169874-612F-4D17-98F4-DA609242105F}"/>
              </a:ext>
            </a:extLst>
          </p:cNvPr>
          <p:cNvSpPr txBox="1"/>
          <p:nvPr/>
        </p:nvSpPr>
        <p:spPr>
          <a:xfrm>
            <a:off x="8571911" y="4754772"/>
            <a:ext cx="4539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9537451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85800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Refined Design </a:t>
            </a:r>
            <a:endParaRPr lang="en-US" sz="2200" b="1" dirty="0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" name="Text 3"/>
          <p:cNvSpPr/>
          <p:nvPr/>
        </p:nvSpPr>
        <p:spPr>
          <a:xfrm>
            <a:off x="274320" y="749808"/>
            <a:ext cx="8595360" cy="3200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endParaRPr lang="en-US" sz="1200" i="1" dirty="0">
              <a:solidFill>
                <a:srgbClr val="64748B"/>
              </a:solidFill>
              <a:ea typeface="Calibri"/>
              <a:cs typeface="Calibri"/>
            </a:endParaRPr>
          </a:p>
        </p:txBody>
      </p:sp>
      <p:sp>
        <p:nvSpPr>
          <p:cNvPr id="6" name="Shape 4"/>
          <p:cNvSpPr/>
          <p:nvPr/>
        </p:nvSpPr>
        <p:spPr>
          <a:xfrm>
            <a:off x="365760" y="1097280"/>
            <a:ext cx="84124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65760" y="1097280"/>
            <a:ext cx="1005840" cy="7772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65760" y="1097280"/>
            <a:ext cx="1005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📡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508760" y="11430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508760" y="1463040"/>
            <a:ext cx="7040880" cy="3200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300" b="1" dirty="0">
                <a:latin typeface="Calibri"/>
                <a:ea typeface="Calibri"/>
                <a:cs typeface="Calibri"/>
              </a:rPr>
              <a:t>Lidar Sensor and camera (360°  Rotation environment Scanning and Detect Obstacles )</a:t>
            </a:r>
            <a:endParaRPr lang="en-US" sz="1300" dirty="0">
              <a:latin typeface="Calibri"/>
              <a:ea typeface="Calibri"/>
              <a:cs typeface="Calibri"/>
            </a:endParaRPr>
          </a:p>
          <a:p>
            <a:pPr marL="0" indent="0">
              <a:buNone/>
            </a:pPr>
            <a:endParaRPr lang="en-US" sz="1300" b="1" dirty="0">
              <a:latin typeface="Calibri"/>
              <a:ea typeface="Calibri"/>
              <a:cs typeface="Calibri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365760" y="2057400"/>
            <a:ext cx="84124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65760" y="2057400"/>
            <a:ext cx="1005840" cy="7772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65760" y="2057400"/>
            <a:ext cx="1005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🎯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508760" y="21031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508760" y="2423160"/>
            <a:ext cx="7040880" cy="3200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300" b="1">
                <a:latin typeface="Calibri"/>
                <a:ea typeface="Calibri"/>
                <a:cs typeface="Calibri"/>
              </a:rPr>
              <a:t>YOLOv8n Deep Learning Model(Detects obstacles and plastic waste simultaneously)</a:t>
            </a:r>
            <a:endParaRPr lang="en-US" sz="1300">
              <a:latin typeface="Calibri"/>
              <a:ea typeface="Calibri"/>
              <a:cs typeface="Calibri"/>
            </a:endParaRPr>
          </a:p>
          <a:p>
            <a:pPr marL="0" indent="0">
              <a:buNone/>
            </a:pPr>
            <a:endParaRPr lang="en-US" sz="1300" b="1" dirty="0">
              <a:latin typeface="Calibri"/>
              <a:ea typeface="Calibri"/>
              <a:cs typeface="Calibri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365760" y="3017520"/>
            <a:ext cx="84124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65760" y="3017520"/>
            <a:ext cx="1005840" cy="7772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65760" y="3017520"/>
            <a:ext cx="1005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⚙️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508760" y="30632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Pickup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508760" y="3383280"/>
            <a:ext cx="7040880" cy="3200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300" b="1" dirty="0">
                <a:latin typeface="Calibri"/>
                <a:ea typeface="Calibri"/>
                <a:cs typeface="Calibri"/>
              </a:rPr>
              <a:t>Gripper method (Servo-controlled arm, precise pickup, adaptable to different positions)</a:t>
            </a:r>
            <a:endParaRPr lang="en-US" sz="1300" dirty="0">
              <a:latin typeface="Calibri"/>
              <a:ea typeface="Calibri"/>
              <a:cs typeface="Calibri"/>
            </a:endParaRPr>
          </a:p>
          <a:p>
            <a:pPr marL="0" indent="0">
              <a:buNone/>
            </a:pPr>
            <a:endParaRPr lang="en-US" sz="1300" b="1" dirty="0">
              <a:latin typeface="Calibri"/>
              <a:ea typeface="Calibri"/>
              <a:cs typeface="Calibri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365760" y="3937096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Features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65760" y="4343400"/>
            <a:ext cx="8412480" cy="6858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285750" indent="-285750">
              <a:buSzPct val="100000"/>
              <a:buFont typeface="Arial,Sans-Serif"/>
              <a:buChar char="•"/>
            </a:pPr>
            <a:r>
              <a:rPr lang="en-US" sz="1200" b="1" dirty="0">
                <a:solidFill>
                  <a:srgbClr val="000000"/>
                </a:solidFill>
                <a:ea typeface="Calibri"/>
                <a:cs typeface="Calibri"/>
              </a:rPr>
              <a:t>Autonomous navigation with 360° sensing</a:t>
            </a:r>
            <a:endParaRPr lang="en-US" sz="1200" dirty="0">
              <a:solidFill>
                <a:srgbClr val="000000"/>
              </a:solidFill>
              <a:ea typeface="Calibri"/>
              <a:cs typeface="Calibri"/>
            </a:endParaRPr>
          </a:p>
          <a:p>
            <a:pPr marL="285750" indent="-285750">
              <a:buFont typeface="Arial,Sans-Serif"/>
              <a:buChar char="•"/>
            </a:pPr>
            <a:r>
              <a:rPr lang="en-US" sz="1200" b="1" dirty="0">
                <a:solidFill>
                  <a:srgbClr val="000000"/>
                </a:solidFill>
                <a:ea typeface="Calibri"/>
                <a:cs typeface="Calibri"/>
              </a:rPr>
              <a:t>Real-time plastic detection</a:t>
            </a:r>
            <a:endParaRPr lang="en-US" sz="1200" dirty="0">
              <a:solidFill>
                <a:srgbClr val="000000"/>
              </a:solidFill>
              <a:ea typeface="Calibri"/>
              <a:cs typeface="Calibri"/>
            </a:endParaRPr>
          </a:p>
          <a:p>
            <a:pPr marL="285750" indent="-285750">
              <a:buFont typeface="Arial,Sans-Serif"/>
              <a:buChar char="•"/>
            </a:pPr>
            <a:r>
              <a:rPr lang="en-US" sz="1200" b="1" dirty="0">
                <a:solidFill>
                  <a:srgbClr val="000000"/>
                </a:solidFill>
                <a:ea typeface="Calibri"/>
                <a:cs typeface="Calibri"/>
              </a:rPr>
              <a:t>Precise robotic arm pickup</a:t>
            </a:r>
            <a:endParaRPr lang="en-US" sz="1200" dirty="0">
              <a:solidFill>
                <a:srgbClr val="000000"/>
              </a:solidFill>
              <a:ea typeface="Calibri"/>
              <a:cs typeface="Calibri"/>
            </a:endParaRPr>
          </a:p>
          <a:p>
            <a:pPr marL="285750" indent="-285750">
              <a:buFont typeface="Arial,Sans-Serif"/>
              <a:buChar char="•"/>
            </a:pPr>
            <a:r>
              <a:rPr lang="en-US" sz="1200" b="1" dirty="0">
                <a:solidFill>
                  <a:srgbClr val="000000"/>
                </a:solidFill>
                <a:ea typeface="Calibri"/>
                <a:cs typeface="Calibri"/>
              </a:rPr>
              <a:t>Secure storage &amp; safe disposal</a:t>
            </a:r>
            <a:endParaRPr lang="en-US" sz="1200" dirty="0">
              <a:solidFill>
                <a:srgbClr val="000000"/>
              </a:solidFill>
              <a:ea typeface="Calibri"/>
              <a:cs typeface="Calibri"/>
            </a:endParaRPr>
          </a:p>
          <a:p>
            <a:pPr marL="342900" indent="-342900">
              <a:buFont typeface="Arial,Sans-Serif"/>
              <a:buChar char="•"/>
            </a:pPr>
            <a:endParaRPr lang="en-US" sz="1200" dirty="0">
              <a:solidFill>
                <a:srgbClr val="000000"/>
              </a:solidFill>
              <a:ea typeface="Calibri"/>
              <a:cs typeface="Calibri"/>
            </a:endParaRPr>
          </a:p>
          <a:p>
            <a:pPr marL="342900" indent="-342900">
              <a:buSzPct val="100000"/>
              <a:buChar char="•"/>
            </a:pPr>
            <a:endParaRPr lang="en-US" sz="1200" dirty="0">
              <a:solidFill>
                <a:srgbClr val="64748B"/>
              </a:solidFill>
              <a:ea typeface="Calibri"/>
              <a:cs typeface="Calibri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8D0436D-E810-4425-8CD3-11FD011E1646}"/>
              </a:ext>
            </a:extLst>
          </p:cNvPr>
          <p:cNvSpPr txBox="1"/>
          <p:nvPr/>
        </p:nvSpPr>
        <p:spPr>
          <a:xfrm>
            <a:off x="8650085" y="4696691"/>
            <a:ext cx="4391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20762227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85800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/>
            <a:r>
              <a:rPr lang="en-US" sz="28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Refined System Design Specifications  </a:t>
            </a:r>
            <a:endParaRPr lang="en-US" sz="2800" dirty="0">
              <a:ea typeface="Calibri" panose="020F0502020204030204"/>
              <a:cs typeface="Calibri" panose="020F0502020204030204"/>
            </a:endParaRPr>
          </a:p>
        </p:txBody>
      </p:sp>
      <p:sp>
        <p:nvSpPr>
          <p:cNvPr id="5" name="Text 3"/>
          <p:cNvSpPr/>
          <p:nvPr/>
        </p:nvSpPr>
        <p:spPr>
          <a:xfrm>
            <a:off x="274320" y="749808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Complete system - 7 integrated subsystems</a:t>
            </a:r>
            <a:endParaRPr lang="en-US" sz="2000" dirty="0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BA62DBB1-4EE0-4CB3-87AB-2C9F9358E6FF}"/>
              </a:ext>
            </a:extLst>
          </p:cNvPr>
          <p:cNvGrpSpPr/>
          <p:nvPr/>
        </p:nvGrpSpPr>
        <p:grpSpPr>
          <a:xfrm>
            <a:off x="274320" y="1281430"/>
            <a:ext cx="8595360" cy="3474720"/>
            <a:chOff x="274320" y="1097280"/>
            <a:chExt cx="8595360" cy="3474720"/>
          </a:xfrm>
        </p:grpSpPr>
        <p:sp>
          <p:nvSpPr>
            <p:cNvPr id="6" name="Shape 4"/>
            <p:cNvSpPr/>
            <p:nvPr/>
          </p:nvSpPr>
          <p:spPr>
            <a:xfrm>
              <a:off x="274320" y="1097280"/>
              <a:ext cx="4160520" cy="73152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CBD5E1"/>
              </a:solidFill>
              <a:prstDash val="solid"/>
            </a:ln>
            <a:effectLst>
              <a:outerShdw blurRad="50800" dist="12700" dir="8100000" algn="bl" rotWithShape="0">
                <a:srgbClr val="000000">
                  <a:alpha val="6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Shape 5"/>
            <p:cNvSpPr/>
            <p:nvPr/>
          </p:nvSpPr>
          <p:spPr>
            <a:xfrm>
              <a:off x="274320" y="1097280"/>
              <a:ext cx="594360" cy="731520"/>
            </a:xfrm>
            <a:prstGeom prst="rect">
              <a:avLst/>
            </a:prstGeom>
            <a:solidFill>
              <a:srgbClr val="F59E0B"/>
            </a:solidFill>
            <a:ln w="12700">
              <a:solidFill>
                <a:srgbClr val="F59E0B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 6"/>
            <p:cNvSpPr/>
            <p:nvPr/>
          </p:nvSpPr>
          <p:spPr>
            <a:xfrm>
              <a:off x="274320" y="1097280"/>
              <a:ext cx="594360" cy="7315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400" dirty="0">
                  <a:solidFill>
                    <a:srgbClr val="000000"/>
                  </a:solidFill>
                </a:rPr>
                <a:t>⚡</a:t>
              </a:r>
              <a:endParaRPr lang="en-US" sz="2400" dirty="0"/>
            </a:p>
          </p:txBody>
        </p:sp>
        <p:sp>
          <p:nvSpPr>
            <p:cNvPr id="9" name="Text 7"/>
            <p:cNvSpPr/>
            <p:nvPr/>
          </p:nvSpPr>
          <p:spPr>
            <a:xfrm>
              <a:off x="960120" y="1097280"/>
              <a:ext cx="3383280" cy="731520"/>
            </a:xfrm>
            <a:prstGeom prst="rect">
              <a:avLst/>
            </a:prstGeom>
            <a:noFill/>
            <a:ln/>
          </p:spPr>
          <p:txBody>
            <a:bodyPr wrap="square" lIns="91440" tIns="45720" rIns="91440" bIns="45720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1A2E44"/>
                  </a:solidFill>
                  <a:latin typeface="Calibri"/>
                  <a:ea typeface="Calibri"/>
                  <a:cs typeface="Calibri"/>
                </a:rPr>
                <a:t>Power Management Unit</a:t>
              </a:r>
              <a:r>
                <a:rPr lang="en-US" sz="1050" dirty="0">
                  <a:solidFill>
                    <a:srgbClr val="64748B"/>
                  </a:solidFill>
                  <a:latin typeface="Calibri"/>
                  <a:ea typeface="Calibri"/>
                  <a:cs typeface="Calibri"/>
                </a:rPr>
                <a:t> — </a:t>
              </a:r>
              <a:r>
                <a:rPr lang="en-US" sz="1600" dirty="0">
                  <a:latin typeface="Calibri"/>
                  <a:ea typeface="Calibri"/>
                  <a:cs typeface="Calibri"/>
                </a:rPr>
                <a:t>24V Li-ion, DC-DC buck converters, fuse protection</a:t>
              </a:r>
            </a:p>
          </p:txBody>
        </p:sp>
        <p:sp>
          <p:nvSpPr>
            <p:cNvPr id="10" name="Shape 8"/>
            <p:cNvSpPr/>
            <p:nvPr/>
          </p:nvSpPr>
          <p:spPr>
            <a:xfrm>
              <a:off x="4709160" y="1097280"/>
              <a:ext cx="4160520" cy="73152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CBD5E1"/>
              </a:solidFill>
              <a:prstDash val="solid"/>
            </a:ln>
            <a:effectLst>
              <a:outerShdw blurRad="50800" dist="12700" dir="8100000" algn="bl" rotWithShape="0">
                <a:srgbClr val="000000">
                  <a:alpha val="6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Shape 9"/>
            <p:cNvSpPr/>
            <p:nvPr/>
          </p:nvSpPr>
          <p:spPr>
            <a:xfrm>
              <a:off x="4709160" y="1097280"/>
              <a:ext cx="594360" cy="731520"/>
            </a:xfrm>
            <a:prstGeom prst="rect">
              <a:avLst/>
            </a:prstGeom>
            <a:solidFill>
              <a:srgbClr val="0D9488"/>
            </a:solidFill>
            <a:ln w="12700">
              <a:solidFill>
                <a:srgbClr val="0D948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 10"/>
            <p:cNvSpPr/>
            <p:nvPr/>
          </p:nvSpPr>
          <p:spPr>
            <a:xfrm>
              <a:off x="4709160" y="1097280"/>
              <a:ext cx="594360" cy="7315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400" dirty="0">
                  <a:solidFill>
                    <a:srgbClr val="000000"/>
                  </a:solidFill>
                </a:rPr>
                <a:t>👁️</a:t>
              </a:r>
              <a:endParaRPr lang="en-US" sz="2400" dirty="0"/>
            </a:p>
          </p:txBody>
        </p:sp>
        <p:sp>
          <p:nvSpPr>
            <p:cNvPr id="13" name="Text 11"/>
            <p:cNvSpPr/>
            <p:nvPr/>
          </p:nvSpPr>
          <p:spPr>
            <a:xfrm>
              <a:off x="5394960" y="1097280"/>
              <a:ext cx="3383280" cy="731520"/>
            </a:xfrm>
            <a:prstGeom prst="rect">
              <a:avLst/>
            </a:prstGeom>
            <a:noFill/>
            <a:ln/>
          </p:spPr>
          <p:txBody>
            <a:bodyPr wrap="square" lIns="91440" tIns="45720" rIns="91440" bIns="45720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1A2E44"/>
                  </a:solidFill>
                  <a:latin typeface="Calibri"/>
                  <a:ea typeface="Calibri"/>
                  <a:cs typeface="Calibri"/>
                </a:rPr>
                <a:t>Detection &amp; Perception Unit</a:t>
              </a:r>
              <a:r>
                <a:rPr lang="en-US" sz="1050" dirty="0">
                  <a:solidFill>
                    <a:srgbClr val="64748B"/>
                  </a:solidFill>
                  <a:latin typeface="Calibri"/>
                  <a:ea typeface="Calibri"/>
                  <a:cs typeface="Calibri"/>
                </a:rPr>
                <a:t> — </a:t>
              </a:r>
              <a:r>
                <a:rPr lang="en-US" sz="1600" dirty="0">
                  <a:latin typeface="Calibri"/>
                  <a:ea typeface="Calibri"/>
                  <a:cs typeface="Calibri"/>
                </a:rPr>
                <a:t>YOLOv8n model, 720p camera, </a:t>
              </a:r>
              <a:r>
                <a:rPr lang="en-US" sz="1600" dirty="0" err="1">
                  <a:latin typeface="Calibri"/>
                  <a:ea typeface="Calibri"/>
                  <a:cs typeface="Calibri"/>
                </a:rPr>
                <a:t>RPLiDAR</a:t>
              </a:r>
              <a:r>
                <a:rPr lang="en-US" sz="1600" dirty="0">
                  <a:latin typeface="Calibri"/>
                  <a:ea typeface="Calibri"/>
                  <a:cs typeface="Calibri"/>
                </a:rPr>
                <a:t> A1</a:t>
              </a:r>
            </a:p>
          </p:txBody>
        </p:sp>
        <p:sp>
          <p:nvSpPr>
            <p:cNvPr id="14" name="Shape 12"/>
            <p:cNvSpPr/>
            <p:nvPr/>
          </p:nvSpPr>
          <p:spPr>
            <a:xfrm>
              <a:off x="274320" y="2011680"/>
              <a:ext cx="4160520" cy="73152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CBD5E1"/>
              </a:solidFill>
              <a:prstDash val="solid"/>
            </a:ln>
            <a:effectLst>
              <a:outerShdw blurRad="50800" dist="12700" dir="8100000" algn="bl" rotWithShape="0">
                <a:srgbClr val="000000">
                  <a:alpha val="6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Shape 13"/>
            <p:cNvSpPr/>
            <p:nvPr/>
          </p:nvSpPr>
          <p:spPr>
            <a:xfrm>
              <a:off x="274320" y="2011680"/>
              <a:ext cx="594360" cy="731520"/>
            </a:xfrm>
            <a:prstGeom prst="rect">
              <a:avLst/>
            </a:prstGeom>
            <a:solidFill>
              <a:srgbClr val="7C3AED"/>
            </a:solidFill>
            <a:ln w="12700">
              <a:solidFill>
                <a:srgbClr val="7C3AED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 14"/>
            <p:cNvSpPr/>
            <p:nvPr/>
          </p:nvSpPr>
          <p:spPr>
            <a:xfrm>
              <a:off x="274320" y="2011680"/>
              <a:ext cx="594360" cy="7315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400" dirty="0">
                  <a:solidFill>
                    <a:srgbClr val="000000"/>
                  </a:solidFill>
                </a:rPr>
                <a:t>🧠</a:t>
              </a:r>
              <a:endParaRPr lang="en-US" sz="2400" dirty="0"/>
            </a:p>
          </p:txBody>
        </p:sp>
        <p:sp>
          <p:nvSpPr>
            <p:cNvPr id="17" name="Text 15"/>
            <p:cNvSpPr/>
            <p:nvPr/>
          </p:nvSpPr>
          <p:spPr>
            <a:xfrm>
              <a:off x="960120" y="2011680"/>
              <a:ext cx="3383280" cy="731520"/>
            </a:xfrm>
            <a:prstGeom prst="rect">
              <a:avLst/>
            </a:prstGeom>
            <a:noFill/>
            <a:ln/>
          </p:spPr>
          <p:txBody>
            <a:bodyPr wrap="square" lIns="91440" tIns="45720" rIns="91440" bIns="45720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1A2E44"/>
                  </a:solidFill>
                  <a:latin typeface="Calibri"/>
                  <a:ea typeface="Calibri"/>
                  <a:cs typeface="Calibri"/>
                </a:rPr>
                <a:t>Control &amp; Processing Unit</a:t>
              </a:r>
              <a:r>
                <a:rPr lang="en-US" sz="1050" dirty="0">
                  <a:solidFill>
                    <a:srgbClr val="64748B"/>
                  </a:solidFill>
                  <a:latin typeface="Calibri"/>
                  <a:ea typeface="Calibri"/>
                  <a:cs typeface="Calibri"/>
                </a:rPr>
                <a:t> —</a:t>
              </a:r>
              <a:r>
                <a:rPr lang="en-US" sz="1050" dirty="0">
                  <a:latin typeface="Calibri"/>
                  <a:ea typeface="Calibri"/>
                  <a:cs typeface="Calibri"/>
                </a:rPr>
                <a:t> </a:t>
              </a:r>
              <a:r>
                <a:rPr lang="en-US" sz="1600" dirty="0">
                  <a:latin typeface="Calibri"/>
                  <a:ea typeface="Calibri"/>
                  <a:cs typeface="Calibri"/>
                </a:rPr>
                <a:t>Raspberry Pi 4 (4GB) + Arduino UNO &amp; Nano via UART</a:t>
              </a:r>
            </a:p>
          </p:txBody>
        </p:sp>
        <p:sp>
          <p:nvSpPr>
            <p:cNvPr id="18" name="Shape 16"/>
            <p:cNvSpPr/>
            <p:nvPr/>
          </p:nvSpPr>
          <p:spPr>
            <a:xfrm>
              <a:off x="4709160" y="2011680"/>
              <a:ext cx="4160520" cy="73152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CBD5E1"/>
              </a:solidFill>
              <a:prstDash val="solid"/>
            </a:ln>
            <a:effectLst>
              <a:outerShdw blurRad="50800" dist="12700" dir="8100000" algn="bl" rotWithShape="0">
                <a:srgbClr val="000000">
                  <a:alpha val="6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Shape 17"/>
            <p:cNvSpPr/>
            <p:nvPr/>
          </p:nvSpPr>
          <p:spPr>
            <a:xfrm>
              <a:off x="4709160" y="2011680"/>
              <a:ext cx="594360" cy="731520"/>
            </a:xfrm>
            <a:prstGeom prst="rect">
              <a:avLst/>
            </a:prstGeom>
            <a:solidFill>
              <a:srgbClr val="0284C7"/>
            </a:solidFill>
            <a:ln w="12700">
              <a:solidFill>
                <a:srgbClr val="0284C7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Text 18"/>
            <p:cNvSpPr/>
            <p:nvPr/>
          </p:nvSpPr>
          <p:spPr>
            <a:xfrm>
              <a:off x="4709160" y="2011680"/>
              <a:ext cx="594360" cy="7315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400" dirty="0">
                  <a:solidFill>
                    <a:srgbClr val="000000"/>
                  </a:solidFill>
                </a:rPr>
                <a:t>🚗</a:t>
              </a:r>
              <a:endParaRPr lang="en-US" sz="2400" dirty="0"/>
            </a:p>
          </p:txBody>
        </p:sp>
        <p:sp>
          <p:nvSpPr>
            <p:cNvPr id="21" name="Text 19"/>
            <p:cNvSpPr/>
            <p:nvPr/>
          </p:nvSpPr>
          <p:spPr>
            <a:xfrm>
              <a:off x="5394960" y="2011680"/>
              <a:ext cx="3383280" cy="731520"/>
            </a:xfrm>
            <a:prstGeom prst="rect">
              <a:avLst/>
            </a:prstGeom>
            <a:noFill/>
            <a:ln/>
          </p:spPr>
          <p:txBody>
            <a:bodyPr wrap="square" lIns="91440" tIns="45720" rIns="91440" bIns="45720" rtlCol="0" anchor="ctr"/>
            <a:lstStyle/>
            <a:p>
              <a:pPr marL="0" indent="0">
                <a:buNone/>
              </a:pPr>
              <a:r>
                <a:rPr lang="en-US" sz="1600" b="1" dirty="0">
                  <a:latin typeface="Calibri"/>
                  <a:ea typeface="Calibri"/>
                  <a:cs typeface="Calibri"/>
                </a:rPr>
                <a:t>Navigation &amp; Mobility Unit</a:t>
              </a:r>
              <a:r>
                <a:rPr lang="en-US" sz="1050" dirty="0">
                  <a:latin typeface="Calibri"/>
                  <a:ea typeface="Calibri"/>
                  <a:cs typeface="Calibri"/>
                </a:rPr>
                <a:t> — </a:t>
              </a:r>
              <a:r>
                <a:rPr lang="en-US" sz="1600" dirty="0">
                  <a:latin typeface="Calibri"/>
                  <a:ea typeface="Calibri"/>
                  <a:cs typeface="Calibri"/>
                </a:rPr>
                <a:t>Differential drive, L298N, IMU MPU6050, encoders</a:t>
              </a:r>
            </a:p>
          </p:txBody>
        </p:sp>
        <p:sp>
          <p:nvSpPr>
            <p:cNvPr id="22" name="Shape 20"/>
            <p:cNvSpPr/>
            <p:nvPr/>
          </p:nvSpPr>
          <p:spPr>
            <a:xfrm>
              <a:off x="274320" y="2926080"/>
              <a:ext cx="4160520" cy="73152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CBD5E1"/>
              </a:solidFill>
              <a:prstDash val="solid"/>
            </a:ln>
            <a:effectLst>
              <a:outerShdw blurRad="50800" dist="12700" dir="8100000" algn="bl" rotWithShape="0">
                <a:srgbClr val="000000">
                  <a:alpha val="6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Shape 21"/>
            <p:cNvSpPr/>
            <p:nvPr/>
          </p:nvSpPr>
          <p:spPr>
            <a:xfrm>
              <a:off x="274320" y="2926080"/>
              <a:ext cx="594360" cy="731520"/>
            </a:xfrm>
            <a:prstGeom prst="rect">
              <a:avLst/>
            </a:prstGeom>
            <a:solidFill>
              <a:srgbClr val="0D9488"/>
            </a:solidFill>
            <a:ln w="12700">
              <a:solidFill>
                <a:srgbClr val="0D948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Text 22"/>
            <p:cNvSpPr/>
            <p:nvPr/>
          </p:nvSpPr>
          <p:spPr>
            <a:xfrm>
              <a:off x="274320" y="2926080"/>
              <a:ext cx="594360" cy="7315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400" dirty="0">
                  <a:solidFill>
                    <a:srgbClr val="000000"/>
                  </a:solidFill>
                </a:rPr>
                <a:t>🦾</a:t>
              </a:r>
              <a:endParaRPr lang="en-US" sz="2400" dirty="0"/>
            </a:p>
          </p:txBody>
        </p:sp>
        <p:sp>
          <p:nvSpPr>
            <p:cNvPr id="25" name="Text 23"/>
            <p:cNvSpPr/>
            <p:nvPr/>
          </p:nvSpPr>
          <p:spPr>
            <a:xfrm>
              <a:off x="960120" y="2926080"/>
              <a:ext cx="3383280" cy="731520"/>
            </a:xfrm>
            <a:prstGeom prst="rect">
              <a:avLst/>
            </a:prstGeom>
            <a:noFill/>
            <a:ln/>
          </p:spPr>
          <p:txBody>
            <a:bodyPr wrap="square" lIns="91440" tIns="45720" rIns="91440" bIns="45720" rtlCol="0" anchor="ctr"/>
            <a:lstStyle/>
            <a:p>
              <a:r>
                <a:rPr lang="en-US" sz="1600" b="1" dirty="0">
                  <a:solidFill>
                    <a:srgbClr val="1A2E44"/>
                  </a:solidFill>
                  <a:latin typeface="Calibri"/>
                  <a:ea typeface="Calibri"/>
                  <a:cs typeface="Calibri"/>
                </a:rPr>
                <a:t>Waste Collection Mechanism</a:t>
              </a:r>
              <a:r>
                <a:rPr lang="en-US" sz="1050" dirty="0">
                  <a:solidFill>
                    <a:srgbClr val="64748B"/>
                  </a:solidFill>
                  <a:latin typeface="Calibri"/>
                  <a:ea typeface="Calibri"/>
                  <a:cs typeface="Calibri"/>
                </a:rPr>
                <a:t> — </a:t>
              </a:r>
              <a:r>
                <a:rPr lang="en-US" sz="1600" dirty="0">
                  <a:latin typeface="Calibri"/>
                  <a:ea typeface="Calibri"/>
                  <a:cs typeface="Calibri"/>
                </a:rPr>
                <a:t>Robotic arm, MG996R servos, mechanical gripper, Arduino UNO</a:t>
              </a:r>
            </a:p>
          </p:txBody>
        </p:sp>
        <p:sp>
          <p:nvSpPr>
            <p:cNvPr id="26" name="Shape 24"/>
            <p:cNvSpPr/>
            <p:nvPr/>
          </p:nvSpPr>
          <p:spPr>
            <a:xfrm>
              <a:off x="4709160" y="2926080"/>
              <a:ext cx="4160520" cy="73152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CBD5E1"/>
              </a:solidFill>
              <a:prstDash val="solid"/>
            </a:ln>
            <a:effectLst>
              <a:outerShdw blurRad="50800" dist="12700" dir="8100000" algn="bl" rotWithShape="0">
                <a:srgbClr val="000000">
                  <a:alpha val="6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Shape 25"/>
            <p:cNvSpPr/>
            <p:nvPr/>
          </p:nvSpPr>
          <p:spPr>
            <a:xfrm>
              <a:off x="4709160" y="2926080"/>
              <a:ext cx="594360" cy="731520"/>
            </a:xfrm>
            <a:prstGeom prst="rect">
              <a:avLst/>
            </a:prstGeom>
            <a:solidFill>
              <a:srgbClr val="16A34A"/>
            </a:solidFill>
            <a:ln w="12700">
              <a:solidFill>
                <a:srgbClr val="16A34A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Text 26"/>
            <p:cNvSpPr/>
            <p:nvPr/>
          </p:nvSpPr>
          <p:spPr>
            <a:xfrm>
              <a:off x="4709160" y="2926080"/>
              <a:ext cx="594360" cy="7315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400" dirty="0">
                  <a:solidFill>
                    <a:srgbClr val="000000"/>
                  </a:solidFill>
                </a:rPr>
                <a:t>🗃️</a:t>
              </a:r>
              <a:endParaRPr lang="en-US" sz="2400" dirty="0"/>
            </a:p>
          </p:txBody>
        </p:sp>
        <p:sp>
          <p:nvSpPr>
            <p:cNvPr id="29" name="Text 27"/>
            <p:cNvSpPr/>
            <p:nvPr/>
          </p:nvSpPr>
          <p:spPr>
            <a:xfrm>
              <a:off x="5394960" y="2926080"/>
              <a:ext cx="3383280" cy="731520"/>
            </a:xfrm>
            <a:prstGeom prst="rect">
              <a:avLst/>
            </a:prstGeom>
            <a:noFill/>
            <a:ln/>
          </p:spPr>
          <p:txBody>
            <a:bodyPr wrap="square" lIns="91440" tIns="45720" rIns="91440" bIns="45720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1A2E44"/>
                  </a:solidFill>
                  <a:latin typeface="Calibri"/>
                  <a:ea typeface="Calibri"/>
                  <a:cs typeface="Calibri"/>
                </a:rPr>
                <a:t>Storage &amp; Disposal Unit</a:t>
              </a:r>
              <a:r>
                <a:rPr lang="en-US" sz="1050" dirty="0">
                  <a:solidFill>
                    <a:srgbClr val="64748B"/>
                  </a:solidFill>
                  <a:latin typeface="Calibri"/>
                  <a:ea typeface="Calibri"/>
                  <a:cs typeface="Calibri"/>
                </a:rPr>
                <a:t> — </a:t>
              </a:r>
              <a:r>
                <a:rPr lang="en-US" sz="1600" dirty="0">
                  <a:latin typeface="Calibri"/>
                  <a:ea typeface="Calibri"/>
                  <a:cs typeface="Calibri"/>
                </a:rPr>
                <a:t>Onboard bin, optional fullness sensor (HX711)</a:t>
              </a:r>
            </a:p>
          </p:txBody>
        </p:sp>
        <p:sp>
          <p:nvSpPr>
            <p:cNvPr id="30" name="Shape 28"/>
            <p:cNvSpPr/>
            <p:nvPr/>
          </p:nvSpPr>
          <p:spPr>
            <a:xfrm>
              <a:off x="2286000" y="3840480"/>
              <a:ext cx="4572000" cy="73152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CBD5E1"/>
              </a:solidFill>
              <a:prstDash val="solid"/>
            </a:ln>
            <a:effectLst>
              <a:outerShdw blurRad="50800" dist="12700" dir="8100000" algn="bl" rotWithShape="0">
                <a:srgbClr val="000000">
                  <a:alpha val="6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Shape 29"/>
            <p:cNvSpPr/>
            <p:nvPr/>
          </p:nvSpPr>
          <p:spPr>
            <a:xfrm>
              <a:off x="2286000" y="3840480"/>
              <a:ext cx="594360" cy="731520"/>
            </a:xfrm>
            <a:prstGeom prst="rect">
              <a:avLst/>
            </a:prstGeom>
            <a:solidFill>
              <a:srgbClr val="DC2626"/>
            </a:solidFill>
            <a:ln w="12700">
              <a:solidFill>
                <a:srgbClr val="DC2626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Text 30"/>
            <p:cNvSpPr/>
            <p:nvPr/>
          </p:nvSpPr>
          <p:spPr>
            <a:xfrm>
              <a:off x="2286000" y="3840480"/>
              <a:ext cx="594360" cy="7315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400" dirty="0">
                  <a:solidFill>
                    <a:srgbClr val="000000"/>
                  </a:solidFill>
                </a:rPr>
                <a:t>🛡️</a:t>
              </a:r>
              <a:endParaRPr lang="en-US" sz="2400" dirty="0"/>
            </a:p>
          </p:txBody>
        </p:sp>
        <p:sp>
          <p:nvSpPr>
            <p:cNvPr id="33" name="Text 31"/>
            <p:cNvSpPr/>
            <p:nvPr/>
          </p:nvSpPr>
          <p:spPr>
            <a:xfrm>
              <a:off x="2971800" y="3840480"/>
              <a:ext cx="3794760" cy="731520"/>
            </a:xfrm>
            <a:prstGeom prst="rect">
              <a:avLst/>
            </a:prstGeom>
            <a:noFill/>
            <a:ln/>
          </p:spPr>
          <p:txBody>
            <a:bodyPr wrap="square" lIns="91440" tIns="45720" rIns="91440" bIns="45720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1A2E44"/>
                  </a:solidFill>
                  <a:latin typeface="Calibri"/>
                  <a:ea typeface="Calibri"/>
                  <a:cs typeface="Calibri"/>
                </a:rPr>
                <a:t>Safety &amp; Auxiliary Unit</a:t>
              </a:r>
              <a:r>
                <a:rPr lang="en-US" sz="1050" dirty="0">
                  <a:solidFill>
                    <a:srgbClr val="64748B"/>
                  </a:solidFill>
                  <a:latin typeface="Calibri"/>
                  <a:ea typeface="Calibri"/>
                  <a:cs typeface="Calibri"/>
                </a:rPr>
                <a:t> —</a:t>
              </a:r>
              <a:r>
                <a:rPr lang="en-US" sz="1600" dirty="0">
                  <a:latin typeface="Calibri"/>
                  <a:ea typeface="Calibri"/>
                  <a:cs typeface="Calibri"/>
                </a:rPr>
                <a:t> Emergency stop, LED indicators, buzzer.</a:t>
              </a:r>
            </a:p>
          </p:txBody>
        </p:sp>
      </p:grpSp>
      <p:sp>
        <p:nvSpPr>
          <p:cNvPr id="35" name="TextBox 34">
            <a:extLst>
              <a:ext uri="{FF2B5EF4-FFF2-40B4-BE49-F238E27FC236}">
                <a16:creationId xmlns:a16="http://schemas.microsoft.com/office/drawing/2014/main" id="{205B3FC1-9760-4E87-A661-D18EDD6E0D2C}"/>
              </a:ext>
            </a:extLst>
          </p:cNvPr>
          <p:cNvSpPr txBox="1"/>
          <p:nvPr/>
        </p:nvSpPr>
        <p:spPr>
          <a:xfrm>
            <a:off x="8541328" y="4774168"/>
            <a:ext cx="4539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85800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System Performance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804291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system evaluation across key criteria</a:t>
            </a:r>
            <a:endParaRPr lang="en-US" sz="2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8244410"/>
              </p:ext>
            </p:extLst>
          </p:nvPr>
        </p:nvGraphicFramePr>
        <p:xfrm>
          <a:off x="381000" y="1306830"/>
          <a:ext cx="7772400" cy="2926077"/>
        </p:xfrm>
        <a:graphic>
          <a:graphicData uri="http://schemas.openxmlformats.org/drawingml/2006/table">
            <a:tbl>
              <a:tblPr/>
              <a:tblGrid>
                <a:gridCol w="502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801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Criteria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Performance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801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801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 Efficiency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801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Complexity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 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801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Speed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 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801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Reliability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801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Real-time Response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F3540D9D-CCE9-4D98-A91B-7ED3E75E5C39}"/>
              </a:ext>
            </a:extLst>
          </p:cNvPr>
          <p:cNvSpPr txBox="1"/>
          <p:nvPr/>
        </p:nvSpPr>
        <p:spPr>
          <a:xfrm>
            <a:off x="8541328" y="4774168"/>
            <a:ext cx="4539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85800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/>
            <a:r>
              <a:rPr lang="en-US" sz="22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Refined System Circuit Diagram </a:t>
            </a:r>
            <a:endParaRPr lang="en-US" sz="2200" dirty="0">
              <a:ea typeface="Calibri" panose="020F0502020204030204"/>
              <a:cs typeface="Calibri" panose="020F0502020204030204"/>
            </a:endParaRPr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7F9C8F32-4F9A-475F-8090-F08DA4B8FB2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40494"/>
          <a:stretch/>
        </p:blipFill>
        <p:spPr>
          <a:xfrm>
            <a:off x="2246228" y="807645"/>
            <a:ext cx="4408572" cy="393505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20F5B26-2F1E-44A5-A392-48D3AB7E79A6}"/>
              </a:ext>
            </a:extLst>
          </p:cNvPr>
          <p:cNvSpPr txBox="1"/>
          <p:nvPr/>
        </p:nvSpPr>
        <p:spPr>
          <a:xfrm>
            <a:off x="8541328" y="4774168"/>
            <a:ext cx="4539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214511396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85800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/>
            <a:r>
              <a:rPr lang="en-US" sz="22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Refined System Circuit Diagram </a:t>
            </a:r>
            <a:endParaRPr lang="en-US" sz="2200" dirty="0">
              <a:ea typeface="Calibri" panose="020F0502020204030204"/>
              <a:cs typeface="Calibri" panose="020F0502020204030204"/>
            </a:endParaRP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5E5C94C9-A10C-4C2C-9A6F-14C1BB898D4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60123"/>
          <a:stretch/>
        </p:blipFill>
        <p:spPr>
          <a:xfrm>
            <a:off x="1390650" y="910445"/>
            <a:ext cx="6362700" cy="380583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A8D7A1E-92F5-490E-9743-7FEC6CD49853}"/>
              </a:ext>
            </a:extLst>
          </p:cNvPr>
          <p:cNvSpPr txBox="1"/>
          <p:nvPr/>
        </p:nvSpPr>
        <p:spPr>
          <a:xfrm>
            <a:off x="8541328" y="4774168"/>
            <a:ext cx="4539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363194172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2E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979408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914400" y="1188720"/>
            <a:ext cx="7315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5" name="Shape 3"/>
          <p:cNvSpPr/>
          <p:nvPr/>
        </p:nvSpPr>
        <p:spPr>
          <a:xfrm>
            <a:off x="3200400" y="2606040"/>
            <a:ext cx="274320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14400" y="283464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Plastic Waste Collector Robot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i="1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EEE400B — East West University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384048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6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660E7C3-D3A8-4D9A-A544-62E9FFAE2351}"/>
              </a:ext>
            </a:extLst>
          </p:cNvPr>
          <p:cNvSpPr txBox="1"/>
          <p:nvPr/>
        </p:nvSpPr>
        <p:spPr>
          <a:xfrm>
            <a:off x="8541328" y="4774168"/>
            <a:ext cx="4539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  <p:txBody>
          <a:bodyPr/>
          <a:lstStyle/>
          <a:p>
            <a:pPr algn="ctr"/>
            <a:r>
              <a:rPr lang="en-US" sz="2800" b="1" dirty="0">
                <a:solidFill>
                  <a:schemeClr val="bg1"/>
                </a:solidFill>
              </a:rPr>
              <a:t>Appendix</a:t>
            </a:r>
          </a:p>
        </p:txBody>
      </p:sp>
      <p:sp>
        <p:nvSpPr>
          <p:cNvPr id="3" name="Shape 1"/>
          <p:cNvSpPr/>
          <p:nvPr/>
        </p:nvSpPr>
        <p:spPr>
          <a:xfrm>
            <a:off x="0" y="685800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1246469"/>
            <a:ext cx="8595360" cy="6331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endParaRPr lang="en-US" sz="1200" i="1" dirty="0">
              <a:solidFill>
                <a:srgbClr val="64748B"/>
              </a:solidFill>
              <a:ea typeface="Calibri"/>
              <a:cs typeface="Calibri"/>
            </a:endParaRPr>
          </a:p>
        </p:txBody>
      </p:sp>
      <p:pic>
        <p:nvPicPr>
          <p:cNvPr id="7" name="clideo_editor_7e54b41a917d45d68b79aade95878076">
            <a:hlinkClick r:id="" action="ppaction://media"/>
            <a:extLst>
              <a:ext uri="{FF2B5EF4-FFF2-40B4-BE49-F238E27FC236}">
                <a16:creationId xmlns:a16="http://schemas.microsoft.com/office/drawing/2014/main" id="{B44F58D0-D77D-C93E-E3B5-88747811DB90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0" y="749808"/>
            <a:ext cx="9144000" cy="4393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55038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3800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A8BA86-177D-3893-D59A-5C88925544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F5B8047-9774-95FD-7800-6BC5733E66D7}"/>
              </a:ext>
            </a:extLst>
          </p:cNvPr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  <p:txBody>
          <a:bodyPr/>
          <a:lstStyle/>
          <a:p>
            <a:pPr algn="ctr"/>
            <a:r>
              <a:rPr lang="en-US" sz="2800" b="1" dirty="0">
                <a:solidFill>
                  <a:schemeClr val="bg1"/>
                </a:solidFill>
              </a:rPr>
              <a:t>Appendix</a:t>
            </a: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EF2087F1-CE3D-7365-8D49-65A3C0662A10}"/>
              </a:ext>
            </a:extLst>
          </p:cNvPr>
          <p:cNvSpPr/>
          <p:nvPr/>
        </p:nvSpPr>
        <p:spPr>
          <a:xfrm>
            <a:off x="0" y="685800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16DDC27D-3C45-21F1-5491-908F72D71F82}"/>
              </a:ext>
            </a:extLst>
          </p:cNvPr>
          <p:cNvSpPr/>
          <p:nvPr/>
        </p:nvSpPr>
        <p:spPr>
          <a:xfrm>
            <a:off x="274320" y="1246469"/>
            <a:ext cx="8595360" cy="6331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endParaRPr lang="en-US" sz="1200" i="1" dirty="0">
              <a:solidFill>
                <a:srgbClr val="64748B"/>
              </a:solidFill>
              <a:ea typeface="Calibri"/>
              <a:cs typeface="Calibri"/>
            </a:endParaRPr>
          </a:p>
        </p:txBody>
      </p:sp>
      <p:pic>
        <p:nvPicPr>
          <p:cNvPr id="4" name="Picture 3" descr="A diagram of a motor driver speed control system&#10;&#10;AI-generated content may be incorrect.">
            <a:extLst>
              <a:ext uri="{FF2B5EF4-FFF2-40B4-BE49-F238E27FC236}">
                <a16:creationId xmlns:a16="http://schemas.microsoft.com/office/drawing/2014/main" id="{0948879F-FFF1-BECE-97AD-189C060F368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2014" r="-161" b="22947"/>
          <a:stretch>
            <a:fillRect/>
          </a:stretch>
        </p:blipFill>
        <p:spPr>
          <a:xfrm>
            <a:off x="369319" y="1053074"/>
            <a:ext cx="8222065" cy="3863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466434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3D866D-E1EF-F01C-512C-FC75126E2C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5DF3546F-178A-3A6D-710A-820B50A1B77C}"/>
              </a:ext>
            </a:extLst>
          </p:cNvPr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  <p:txBody>
          <a:bodyPr/>
          <a:lstStyle/>
          <a:p>
            <a:pPr algn="ctr"/>
            <a:r>
              <a:rPr lang="en-US" sz="2800" b="1" dirty="0">
                <a:solidFill>
                  <a:schemeClr val="bg1"/>
                </a:solidFill>
              </a:rPr>
              <a:t>Appendix</a:t>
            </a: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24EAAD4B-C04B-9D8F-6692-A32957FA2273}"/>
              </a:ext>
            </a:extLst>
          </p:cNvPr>
          <p:cNvSpPr/>
          <p:nvPr/>
        </p:nvSpPr>
        <p:spPr>
          <a:xfrm>
            <a:off x="0" y="685800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Picture 5" descr="A diagram of a motor driver&#10;&#10;AI-generated content may be incorrect.">
            <a:extLst>
              <a:ext uri="{FF2B5EF4-FFF2-40B4-BE49-F238E27FC236}">
                <a16:creationId xmlns:a16="http://schemas.microsoft.com/office/drawing/2014/main" id="{D3B602E6-14CA-C91F-67C5-24B38EAD30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093" y="841075"/>
            <a:ext cx="9009211" cy="4140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573538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B89DEE-6218-EC4B-FC10-C93CC9D126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CD8DBDF-D582-DC3F-298F-37667A34F3E5}"/>
              </a:ext>
            </a:extLst>
          </p:cNvPr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  <p:txBody>
          <a:bodyPr/>
          <a:lstStyle/>
          <a:p>
            <a:pPr algn="ctr"/>
            <a:r>
              <a:rPr lang="en-US" sz="2800" b="1" dirty="0">
                <a:solidFill>
                  <a:schemeClr val="bg1"/>
                </a:solidFill>
              </a:rPr>
              <a:t>Appendix</a:t>
            </a: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C1278F8B-B79A-C9A1-601F-41A5277DA8F5}"/>
              </a:ext>
            </a:extLst>
          </p:cNvPr>
          <p:cNvSpPr/>
          <p:nvPr/>
        </p:nvSpPr>
        <p:spPr>
          <a:xfrm>
            <a:off x="0" y="685800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Picture 3" descr="A diagram of a machine&#10;&#10;AI-generated content may be incorrect.">
            <a:extLst>
              <a:ext uri="{FF2B5EF4-FFF2-40B4-BE49-F238E27FC236}">
                <a16:creationId xmlns:a16="http://schemas.microsoft.com/office/drawing/2014/main" id="{348676D4-57E2-B735-6F31-FDAC06639F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725" y="1038225"/>
            <a:ext cx="4935747" cy="3067050"/>
          </a:xfrm>
          <a:prstGeom prst="rect">
            <a:avLst/>
          </a:prstGeom>
        </p:spPr>
      </p:pic>
      <p:pic>
        <p:nvPicPr>
          <p:cNvPr id="5" name="Picture 4" descr="A screenshot of a graph&#10;&#10;AI-generated content may be incorrect.">
            <a:extLst>
              <a:ext uri="{FF2B5EF4-FFF2-40B4-BE49-F238E27FC236}">
                <a16:creationId xmlns:a16="http://schemas.microsoft.com/office/drawing/2014/main" id="{16EA8A8E-6349-D6E9-B148-EE8B2592FB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38877" y="1039302"/>
            <a:ext cx="3436189" cy="3054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852264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  <p:txBody>
          <a:bodyPr/>
          <a:lstStyle/>
          <a:p>
            <a:pPr algn="ctr"/>
            <a:r>
              <a:rPr lang="en-US" sz="2800" b="1" dirty="0">
                <a:solidFill>
                  <a:schemeClr val="bg1"/>
                </a:solidFill>
              </a:rPr>
              <a:t>Appendix</a:t>
            </a:r>
          </a:p>
        </p:txBody>
      </p:sp>
      <p:sp>
        <p:nvSpPr>
          <p:cNvPr id="3" name="Shape 1"/>
          <p:cNvSpPr/>
          <p:nvPr/>
        </p:nvSpPr>
        <p:spPr>
          <a:xfrm>
            <a:off x="0" y="685800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1246469"/>
            <a:ext cx="8595360" cy="6331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endParaRPr lang="en-US" sz="1200" i="1" dirty="0">
              <a:solidFill>
                <a:srgbClr val="64748B"/>
              </a:solidFill>
              <a:ea typeface="Calibri"/>
              <a:cs typeface="Calibri"/>
            </a:endParaRPr>
          </a:p>
        </p:txBody>
      </p:sp>
      <p:pic>
        <p:nvPicPr>
          <p:cNvPr id="6" name="Picture 5" descr="A collage of a robot&#10;&#10;AI-generated content may be incorrect.">
            <a:extLst>
              <a:ext uri="{FF2B5EF4-FFF2-40B4-BE49-F238E27FC236}">
                <a16:creationId xmlns:a16="http://schemas.microsoft.com/office/drawing/2014/main" id="{F27D934C-E1BD-299F-11D5-F0AA9CE951E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26" t="-80" r="-120" b="1179"/>
          <a:stretch>
            <a:fillRect/>
          </a:stretch>
        </p:blipFill>
        <p:spPr>
          <a:xfrm>
            <a:off x="407" y="718800"/>
            <a:ext cx="9140915" cy="4597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547872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  <p:txBody>
          <a:bodyPr/>
          <a:lstStyle/>
          <a:p>
            <a:pPr algn="ctr"/>
            <a:r>
              <a:rPr lang="en-US" sz="2800" b="1" dirty="0">
                <a:solidFill>
                  <a:schemeClr val="bg1"/>
                </a:solidFill>
              </a:rPr>
              <a:t>Appendix</a:t>
            </a:r>
          </a:p>
        </p:txBody>
      </p:sp>
      <p:sp>
        <p:nvSpPr>
          <p:cNvPr id="3" name="Shape 1"/>
          <p:cNvSpPr/>
          <p:nvPr/>
        </p:nvSpPr>
        <p:spPr>
          <a:xfrm>
            <a:off x="0" y="685800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1246469"/>
            <a:ext cx="8595360" cy="6331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endParaRPr lang="en-US" sz="1200" i="1" dirty="0">
              <a:solidFill>
                <a:srgbClr val="64748B"/>
              </a:solidFill>
              <a:ea typeface="Calibri"/>
              <a:cs typeface="Calibri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CB144C8-59AD-4A74-84FA-4E6DE1D3DE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854" y="855714"/>
            <a:ext cx="7281607" cy="4098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590458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  <p:txBody>
          <a:bodyPr/>
          <a:lstStyle/>
          <a:p>
            <a:pPr algn="ctr"/>
            <a:r>
              <a:rPr lang="en-US" sz="2800" b="1" dirty="0">
                <a:solidFill>
                  <a:schemeClr val="bg1"/>
                </a:solidFill>
              </a:rPr>
              <a:t>Appendix: Specification</a:t>
            </a:r>
          </a:p>
        </p:txBody>
      </p:sp>
      <p:sp>
        <p:nvSpPr>
          <p:cNvPr id="3" name="Shape 1"/>
          <p:cNvSpPr/>
          <p:nvPr/>
        </p:nvSpPr>
        <p:spPr>
          <a:xfrm>
            <a:off x="0" y="685800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1246469"/>
            <a:ext cx="8595360" cy="6331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endParaRPr lang="en-US" sz="1200" i="1" dirty="0">
              <a:solidFill>
                <a:srgbClr val="64748B"/>
              </a:solidFill>
              <a:ea typeface="Calibri"/>
              <a:cs typeface="Calibri"/>
            </a:endParaRPr>
          </a:p>
        </p:txBody>
      </p:sp>
      <p:graphicFrame>
        <p:nvGraphicFramePr>
          <p:cNvPr id="6" name="Table 0">
            <a:extLst>
              <a:ext uri="{FF2B5EF4-FFF2-40B4-BE49-F238E27FC236}">
                <a16:creationId xmlns:a16="http://schemas.microsoft.com/office/drawing/2014/main" id="{98966134-5752-4B23-9BBB-576FB48EF5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9040617"/>
              </p:ext>
            </p:extLst>
          </p:nvPr>
        </p:nvGraphicFramePr>
        <p:xfrm>
          <a:off x="381000" y="842702"/>
          <a:ext cx="7772399" cy="4219302"/>
        </p:xfrm>
        <a:graphic>
          <a:graphicData uri="http://schemas.openxmlformats.org/drawingml/2006/table">
            <a:tbl>
              <a:tblPr/>
              <a:tblGrid>
                <a:gridCol w="21922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2215">
                  <a:extLst>
                    <a:ext uri="{9D8B030D-6E8A-4147-A177-3AD203B41FA5}">
                      <a16:colId xmlns:a16="http://schemas.microsoft.com/office/drawing/2014/main" val="1911556910"/>
                    </a:ext>
                  </a:extLst>
                </a:gridCol>
                <a:gridCol w="2192215">
                  <a:extLst>
                    <a:ext uri="{9D8B030D-6E8A-4147-A177-3AD203B41FA5}">
                      <a16:colId xmlns:a16="http://schemas.microsoft.com/office/drawing/2014/main" val="3363267655"/>
                    </a:ext>
                  </a:extLst>
                </a:gridCol>
                <a:gridCol w="11957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8011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Subsystem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solidFill>
                            <a:schemeClr val="bg1"/>
                          </a:solidFill>
                        </a:rPr>
                        <a:t>Component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solidFill>
                            <a:schemeClr val="bg1"/>
                          </a:solidFill>
                        </a:rPr>
                        <a:t>Specification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Function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8011">
                <a:tc>
                  <a:txBody>
                    <a:bodyPr/>
                    <a:lstStyle/>
                    <a:p>
                      <a:r>
                        <a:rPr lang="en-US" sz="1600" dirty="0"/>
                        <a:t>Power Management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Li-ion Battery Pack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24 V, 6–8 Ah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Main power source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8011">
                <a:tc>
                  <a:txBody>
                    <a:bodyPr/>
                    <a:lstStyle/>
                    <a:p>
                      <a:r>
                        <a:rPr lang="en-US" sz="1600" dirty="0"/>
                        <a:t>Power Management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BMS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24 V / 7S Li-ion BMS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Battery protection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8011">
                <a:tc>
                  <a:txBody>
                    <a:bodyPr/>
                    <a:lstStyle/>
                    <a:p>
                      <a:r>
                        <a:rPr lang="en-US" sz="1600" dirty="0"/>
                        <a:t>Power Management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Battery Charger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1600"/>
                        <a:t>29.4 V, 2 A CC/CV Li-ion charger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Charges 24 V battery pack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8011">
                <a:tc>
                  <a:txBody>
                    <a:bodyPr/>
                    <a:lstStyle/>
                    <a:p>
                      <a:r>
                        <a:rPr lang="en-US" sz="1600" dirty="0"/>
                        <a:t>Power Management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Main Switch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24 V DC rated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System ON/OFF control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8011">
                <a:tc>
                  <a:txBody>
                    <a:bodyPr/>
                    <a:lstStyle/>
                    <a:p>
                      <a:r>
                        <a:rPr lang="en-US" sz="1600" dirty="0"/>
                        <a:t>Power Management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Fuse Protection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10–15 A DC fuse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Overcurrent protection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801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1233864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  <p:txBody>
          <a:bodyPr/>
          <a:lstStyle/>
          <a:p>
            <a:pPr algn="ctr"/>
            <a:r>
              <a:rPr lang="en-US" sz="2800" b="1" dirty="0">
                <a:solidFill>
                  <a:schemeClr val="bg1"/>
                </a:solidFill>
              </a:rPr>
              <a:t>Appendix: Specification</a:t>
            </a:r>
          </a:p>
          <a:p>
            <a:pPr algn="ctr"/>
            <a:endParaRPr lang="en-US" sz="2800" b="1" dirty="0">
              <a:solidFill>
                <a:schemeClr val="bg1"/>
              </a:solidFill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685800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1246469"/>
            <a:ext cx="8595360" cy="6331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endParaRPr lang="en-US" sz="1200" i="1" dirty="0">
              <a:solidFill>
                <a:srgbClr val="64748B"/>
              </a:solidFill>
              <a:ea typeface="Calibri"/>
              <a:cs typeface="Calibri"/>
            </a:endParaRPr>
          </a:p>
        </p:txBody>
      </p:sp>
      <p:graphicFrame>
        <p:nvGraphicFramePr>
          <p:cNvPr id="6" name="Table 0">
            <a:extLst>
              <a:ext uri="{FF2B5EF4-FFF2-40B4-BE49-F238E27FC236}">
                <a16:creationId xmlns:a16="http://schemas.microsoft.com/office/drawing/2014/main" id="{98966134-5752-4B23-9BBB-576FB48EF5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4290906"/>
              </p:ext>
            </p:extLst>
          </p:nvPr>
        </p:nvGraphicFramePr>
        <p:xfrm>
          <a:off x="167642" y="867572"/>
          <a:ext cx="8702038" cy="4001994"/>
        </p:xfrm>
        <a:graphic>
          <a:graphicData uri="http://schemas.openxmlformats.org/drawingml/2006/table">
            <a:tbl>
              <a:tblPr/>
              <a:tblGrid>
                <a:gridCol w="17462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3842">
                  <a:extLst>
                    <a:ext uri="{9D8B030D-6E8A-4147-A177-3AD203B41FA5}">
                      <a16:colId xmlns:a16="http://schemas.microsoft.com/office/drawing/2014/main" val="2728450585"/>
                    </a:ext>
                  </a:extLst>
                </a:gridCol>
                <a:gridCol w="2349438">
                  <a:extLst>
                    <a:ext uri="{9D8B030D-6E8A-4147-A177-3AD203B41FA5}">
                      <a16:colId xmlns:a16="http://schemas.microsoft.com/office/drawing/2014/main" val="3885191646"/>
                    </a:ext>
                  </a:extLst>
                </a:gridCol>
                <a:gridCol w="25724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8625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Subsystem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Component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Specification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Function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2582">
                <a:tc>
                  <a:txBody>
                    <a:bodyPr/>
                    <a:lstStyle/>
                    <a:p>
                      <a:r>
                        <a:rPr lang="en-US" sz="1600" dirty="0"/>
                        <a:t>Power Management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Buck Converter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24 V to 5 V, 5 A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Supplies Pi, Arduino, sensors, display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2582">
                <a:tc>
                  <a:txBody>
                    <a:bodyPr/>
                    <a:lstStyle/>
                    <a:p>
                      <a:r>
                        <a:rPr lang="en-US" sz="1600" dirty="0"/>
                        <a:t>Power Management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Buck Converter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24 V to 12 V, 5–10 A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Supplies DC motors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2582">
                <a:tc>
                  <a:txBody>
                    <a:bodyPr/>
                    <a:lstStyle/>
                    <a:p>
                      <a:r>
                        <a:rPr lang="en-US" sz="1600" dirty="0"/>
                        <a:t>Power Management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Buck Converter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24 V to 6 V, 5–10 A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Supplies servo motors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75117">
                <a:tc>
                  <a:txBody>
                    <a:bodyPr/>
                    <a:lstStyle/>
                    <a:p>
                      <a:r>
                        <a:rPr lang="en-US" sz="1600" dirty="0"/>
                        <a:t>Control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Raspberry Pi 4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4 GB RAM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Runs YOLOv8n, navigation logic, decision-making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75117">
                <a:tc>
                  <a:txBody>
                    <a:bodyPr/>
                    <a:lstStyle/>
                    <a:p>
                      <a:r>
                        <a:rPr lang="en-US" sz="1600" dirty="0"/>
                        <a:t>Control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Arduino Nano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ATmega328P, 5 V logic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Handles sensors, encoder input, mobility control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2582">
                <a:tc>
                  <a:txBody>
                    <a:bodyPr/>
                    <a:lstStyle/>
                    <a:p>
                      <a:r>
                        <a:rPr lang="en-US" sz="1600" dirty="0"/>
                        <a:t>Control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Arduino UNO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ATmega328P, 5 V logic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Dedicated arm and gripper controller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9758584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  <p:txBody>
          <a:bodyPr/>
          <a:lstStyle/>
          <a:p>
            <a:pPr algn="ctr"/>
            <a:r>
              <a:rPr lang="en-US" sz="2800" b="1" dirty="0">
                <a:solidFill>
                  <a:schemeClr val="bg1"/>
                </a:solidFill>
              </a:rPr>
              <a:t>Appendix: Specification</a:t>
            </a:r>
          </a:p>
          <a:p>
            <a:pPr algn="ctr"/>
            <a:endParaRPr lang="en-US" sz="2800" b="1" dirty="0">
              <a:solidFill>
                <a:schemeClr val="bg1"/>
              </a:solidFill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685800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1246469"/>
            <a:ext cx="8595360" cy="6331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endParaRPr lang="en-US" sz="1200" i="1" dirty="0">
              <a:solidFill>
                <a:srgbClr val="64748B"/>
              </a:solidFill>
              <a:ea typeface="Calibri"/>
              <a:cs typeface="Calibri"/>
            </a:endParaRPr>
          </a:p>
        </p:txBody>
      </p:sp>
      <p:graphicFrame>
        <p:nvGraphicFramePr>
          <p:cNvPr id="6" name="Table 0">
            <a:extLst>
              <a:ext uri="{FF2B5EF4-FFF2-40B4-BE49-F238E27FC236}">
                <a16:creationId xmlns:a16="http://schemas.microsoft.com/office/drawing/2014/main" id="{98966134-5752-4B23-9BBB-576FB48EF5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4961717"/>
              </p:ext>
            </p:extLst>
          </p:nvPr>
        </p:nvGraphicFramePr>
        <p:xfrm>
          <a:off x="200891" y="891193"/>
          <a:ext cx="8595359" cy="4167051"/>
        </p:xfrm>
        <a:graphic>
          <a:graphicData uri="http://schemas.openxmlformats.org/drawingml/2006/table">
            <a:tbl>
              <a:tblPr/>
              <a:tblGrid>
                <a:gridCol w="18357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2982">
                  <a:extLst>
                    <a:ext uri="{9D8B030D-6E8A-4147-A177-3AD203B41FA5}">
                      <a16:colId xmlns:a16="http://schemas.microsoft.com/office/drawing/2014/main" val="2992273485"/>
                    </a:ext>
                  </a:extLst>
                </a:gridCol>
                <a:gridCol w="2396836">
                  <a:extLst>
                    <a:ext uri="{9D8B030D-6E8A-4147-A177-3AD203B41FA5}">
                      <a16:colId xmlns:a16="http://schemas.microsoft.com/office/drawing/2014/main" val="496948210"/>
                    </a:ext>
                  </a:extLst>
                </a:gridCol>
                <a:gridCol w="19798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8011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Subsystem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Component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Specification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Function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8011">
                <a:tc>
                  <a:txBody>
                    <a:bodyPr/>
                    <a:lstStyle/>
                    <a:p>
                      <a:r>
                        <a:rPr lang="en-US" dirty="0"/>
                        <a:t>Control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microSD Card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32–64 GB, Class 10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Stores OS, code, model, logs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8011">
                <a:tc>
                  <a:txBody>
                    <a:bodyPr/>
                    <a:lstStyle/>
                    <a:p>
                      <a:r>
                        <a:rPr lang="en-US" dirty="0"/>
                        <a:t>Control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Cooling Fan + Heatsink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Pi cooling system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Prevents overheating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8011">
                <a:tc>
                  <a:txBody>
                    <a:bodyPr/>
                    <a:lstStyle/>
                    <a:p>
                      <a:r>
                        <a:rPr lang="en-US" dirty="0"/>
                        <a:t>Communication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UART Serial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Pi-to-Arduino communication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Exchanges commands and status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8011">
                <a:tc>
                  <a:txBody>
                    <a:bodyPr/>
                    <a:lstStyle/>
                    <a:p>
                      <a:r>
                        <a:rPr lang="en-US" dirty="0"/>
                        <a:t>Communication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Logic Level Shifter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3.3 V / 5 V compatible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Protects Raspberry Pi GPIO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8011">
                <a:tc>
                  <a:txBody>
                    <a:bodyPr/>
                    <a:lstStyle/>
                    <a:p>
                      <a:r>
                        <a:rPr lang="en-US" dirty="0"/>
                        <a:t>Detection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Camera Module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720p USB/Pi camera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Captures images for plastic detection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5687793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  <p:txBody>
          <a:bodyPr/>
          <a:lstStyle/>
          <a:p>
            <a:pPr algn="ctr"/>
            <a:r>
              <a:rPr lang="en-US" sz="2800" b="1" dirty="0">
                <a:solidFill>
                  <a:schemeClr val="bg1"/>
                </a:solidFill>
              </a:rPr>
              <a:t>Appendix: Specification</a:t>
            </a:r>
          </a:p>
          <a:p>
            <a:pPr algn="ctr"/>
            <a:endParaRPr lang="en-US" sz="2800" b="1" dirty="0">
              <a:solidFill>
                <a:schemeClr val="bg1"/>
              </a:solidFill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685800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1246469"/>
            <a:ext cx="8595360" cy="6331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endParaRPr lang="en-US" sz="1200" i="1" dirty="0">
              <a:solidFill>
                <a:srgbClr val="64748B"/>
              </a:solidFill>
              <a:ea typeface="Calibri"/>
              <a:cs typeface="Calibri"/>
            </a:endParaRPr>
          </a:p>
        </p:txBody>
      </p:sp>
      <p:graphicFrame>
        <p:nvGraphicFramePr>
          <p:cNvPr id="6" name="Table 0">
            <a:extLst>
              <a:ext uri="{FF2B5EF4-FFF2-40B4-BE49-F238E27FC236}">
                <a16:creationId xmlns:a16="http://schemas.microsoft.com/office/drawing/2014/main" id="{98966134-5752-4B23-9BBB-576FB48EF5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8683136"/>
              </p:ext>
            </p:extLst>
          </p:nvPr>
        </p:nvGraphicFramePr>
        <p:xfrm>
          <a:off x="317269" y="834737"/>
          <a:ext cx="8509462" cy="4162563"/>
        </p:xfrm>
        <a:graphic>
          <a:graphicData uri="http://schemas.openxmlformats.org/drawingml/2006/table">
            <a:tbl>
              <a:tblPr/>
              <a:tblGrid>
                <a:gridCol w="17974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0821">
                  <a:extLst>
                    <a:ext uri="{9D8B030D-6E8A-4147-A177-3AD203B41FA5}">
                      <a16:colId xmlns:a16="http://schemas.microsoft.com/office/drawing/2014/main" val="2740600765"/>
                    </a:ext>
                  </a:extLst>
                </a:gridCol>
                <a:gridCol w="2290427">
                  <a:extLst>
                    <a:ext uri="{9D8B030D-6E8A-4147-A177-3AD203B41FA5}">
                      <a16:colId xmlns:a16="http://schemas.microsoft.com/office/drawing/2014/main" val="1262810098"/>
                    </a:ext>
                  </a:extLst>
                </a:gridCol>
                <a:gridCol w="23207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7803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Subsystem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Component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Specification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Function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3199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Perception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err="1">
                          <a:solidFill>
                            <a:schemeClr val="bg1"/>
                          </a:solidFill>
                        </a:rPr>
                        <a:t>RPLiDAR</a:t>
                      </a:r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 A1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360° LiDAR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Environmental scanning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6575601"/>
                  </a:ext>
                </a:extLst>
              </a:tr>
              <a:tr h="563199">
                <a:tc>
                  <a:txBody>
                    <a:bodyPr/>
                    <a:lstStyle/>
                    <a:p>
                      <a:r>
                        <a:rPr lang="en-US" sz="1600" dirty="0"/>
                        <a:t>Perception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Ultrasonic Sensors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US-100 / HC-SR04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Short-range obstacle detection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3199">
                <a:tc>
                  <a:txBody>
                    <a:bodyPr/>
                    <a:lstStyle/>
                    <a:p>
                      <a:r>
                        <a:rPr lang="en-US" sz="1600" dirty="0"/>
                        <a:t>Mobility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DC Gear Motors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12 V geared DC motors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Drives robot wheels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3199">
                <a:tc>
                  <a:txBody>
                    <a:bodyPr/>
                    <a:lstStyle/>
                    <a:p>
                      <a:r>
                        <a:rPr lang="en-US" sz="1600" dirty="0"/>
                        <a:t>Mobility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Motor Driver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L298N or equivalent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Controls motor speed and direction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3199">
                <a:tc>
                  <a:txBody>
                    <a:bodyPr/>
                    <a:lstStyle/>
                    <a:p>
                      <a:r>
                        <a:rPr lang="en-US" sz="1600" dirty="0"/>
                        <a:t>Mobility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Wheels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80–100 mm rubber wheels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Provides traction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7803">
                <a:tc>
                  <a:txBody>
                    <a:bodyPr/>
                    <a:lstStyle/>
                    <a:p>
                      <a:r>
                        <a:rPr lang="en-US" sz="1600" dirty="0"/>
                        <a:t>Mobility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Caster Wheel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Support wheel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Maintains balance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3199">
                <a:tc>
                  <a:txBody>
                    <a:bodyPr/>
                    <a:lstStyle/>
                    <a:p>
                      <a:r>
                        <a:rPr lang="en-US" sz="1600" dirty="0"/>
                        <a:t>Mobility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Wheel Encoders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LM393 modules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Measures wheel rotation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1549994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  <p:txBody>
          <a:bodyPr/>
          <a:lstStyle/>
          <a:p>
            <a:pPr algn="ctr"/>
            <a:r>
              <a:rPr lang="en-US" sz="2800" b="1" dirty="0">
                <a:solidFill>
                  <a:schemeClr val="bg1"/>
                </a:solidFill>
              </a:rPr>
              <a:t>Appendix: Specification</a:t>
            </a:r>
          </a:p>
          <a:p>
            <a:pPr algn="ctr"/>
            <a:endParaRPr lang="en-US" sz="2800" b="1" dirty="0">
              <a:solidFill>
                <a:schemeClr val="bg1"/>
              </a:solidFill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685800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1246469"/>
            <a:ext cx="8595360" cy="6331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endParaRPr lang="en-US" sz="1200" i="1" dirty="0">
              <a:solidFill>
                <a:srgbClr val="64748B"/>
              </a:solidFill>
              <a:ea typeface="Calibri"/>
              <a:cs typeface="Calibri"/>
            </a:endParaRPr>
          </a:p>
        </p:txBody>
      </p:sp>
      <p:graphicFrame>
        <p:nvGraphicFramePr>
          <p:cNvPr id="6" name="Table 0">
            <a:extLst>
              <a:ext uri="{FF2B5EF4-FFF2-40B4-BE49-F238E27FC236}">
                <a16:creationId xmlns:a16="http://schemas.microsoft.com/office/drawing/2014/main" id="{98966134-5752-4B23-9BBB-576FB48EF5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4218121"/>
              </p:ext>
            </p:extLst>
          </p:nvPr>
        </p:nvGraphicFramePr>
        <p:xfrm>
          <a:off x="274320" y="925830"/>
          <a:ext cx="8237804" cy="3988524"/>
        </p:xfrm>
        <a:graphic>
          <a:graphicData uri="http://schemas.openxmlformats.org/drawingml/2006/table">
            <a:tbl>
              <a:tblPr/>
              <a:tblGrid>
                <a:gridCol w="11068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40528">
                  <a:extLst>
                    <a:ext uri="{9D8B030D-6E8A-4147-A177-3AD203B41FA5}">
                      <a16:colId xmlns:a16="http://schemas.microsoft.com/office/drawing/2014/main" val="2742419897"/>
                    </a:ext>
                  </a:extLst>
                </a:gridCol>
                <a:gridCol w="2639291">
                  <a:extLst>
                    <a:ext uri="{9D8B030D-6E8A-4147-A177-3AD203B41FA5}">
                      <a16:colId xmlns:a16="http://schemas.microsoft.com/office/drawing/2014/main" val="3103978498"/>
                    </a:ext>
                  </a:extLst>
                </a:gridCol>
                <a:gridCol w="23511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8011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Subsystem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Component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Specification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solidFill>
                            <a:schemeClr val="bg1"/>
                          </a:solidFill>
                        </a:rPr>
                        <a:t>Function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8011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Mobility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IMU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MPU6050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Measures orientation and motion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1091908"/>
                  </a:ext>
                </a:extLst>
              </a:tr>
              <a:tr h="418011">
                <a:tc>
                  <a:txBody>
                    <a:bodyPr/>
                    <a:lstStyle/>
                    <a:p>
                      <a:r>
                        <a:rPr lang="en-US" sz="1600" dirty="0"/>
                        <a:t>Collection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Robotic Arm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Prototype arm / multi-DOF design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Positions gripper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8011">
                <a:tc>
                  <a:txBody>
                    <a:bodyPr/>
                    <a:lstStyle/>
                    <a:p>
                      <a:r>
                        <a:rPr lang="en-US" sz="1600" dirty="0"/>
                        <a:t>Collection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Servo Motors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MG996R metal gear servos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Moves arm joints and gripper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8011">
                <a:tc>
                  <a:txBody>
                    <a:bodyPr/>
                    <a:lstStyle/>
                    <a:p>
                      <a:r>
                        <a:rPr lang="en-US" sz="1600" dirty="0"/>
                        <a:t>Collection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Mechanical Gripper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Servo-operated end effector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Grasps plastic waste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8011">
                <a:tc>
                  <a:txBody>
                    <a:bodyPr/>
                    <a:lstStyle/>
                    <a:p>
                      <a:r>
                        <a:rPr lang="en-US" sz="1600" dirty="0"/>
                        <a:t>Collection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Arm Mounting Bracket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Acrylic/metal mount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Fixes arm to chassis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8011">
                <a:tc>
                  <a:txBody>
                    <a:bodyPr/>
                    <a:lstStyle/>
                    <a:p>
                      <a:r>
                        <a:rPr lang="en-US" sz="1600" dirty="0"/>
                        <a:t>Storage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Storage Bin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Plastic/acrylic bin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Stores collected waste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8011">
                <a:tc>
                  <a:txBody>
                    <a:bodyPr/>
                    <a:lstStyle/>
                    <a:p>
                      <a:r>
                        <a:rPr lang="en-US" sz="1600" dirty="0"/>
                        <a:t>Storage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Fullness Sensor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HX711 load cell or ultrasonic level sensor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Detects bin-full condition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0598073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  <p:txBody>
          <a:bodyPr/>
          <a:lstStyle/>
          <a:p>
            <a:pPr algn="ctr"/>
            <a:r>
              <a:rPr lang="en-US" sz="2800" b="1" dirty="0">
                <a:solidFill>
                  <a:schemeClr val="bg1"/>
                </a:solidFill>
              </a:rPr>
              <a:t>Appendix: Specification</a:t>
            </a:r>
          </a:p>
          <a:p>
            <a:pPr algn="ctr"/>
            <a:endParaRPr lang="en-US" sz="2800" b="1" dirty="0">
              <a:solidFill>
                <a:schemeClr val="bg1"/>
              </a:solidFill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685800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1246469"/>
            <a:ext cx="8595360" cy="6331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endParaRPr lang="en-US" sz="1200" i="1" dirty="0">
              <a:solidFill>
                <a:srgbClr val="64748B"/>
              </a:solidFill>
              <a:ea typeface="Calibri"/>
              <a:cs typeface="Calibri"/>
            </a:endParaRPr>
          </a:p>
        </p:txBody>
      </p:sp>
      <p:graphicFrame>
        <p:nvGraphicFramePr>
          <p:cNvPr id="6" name="Table 0">
            <a:extLst>
              <a:ext uri="{FF2B5EF4-FFF2-40B4-BE49-F238E27FC236}">
                <a16:creationId xmlns:a16="http://schemas.microsoft.com/office/drawing/2014/main" id="{98966134-5752-4B23-9BBB-576FB48EF5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9093891"/>
              </p:ext>
            </p:extLst>
          </p:nvPr>
        </p:nvGraphicFramePr>
        <p:xfrm>
          <a:off x="574964" y="1008958"/>
          <a:ext cx="7417613" cy="3975462"/>
        </p:xfrm>
        <a:graphic>
          <a:graphicData uri="http://schemas.openxmlformats.org/drawingml/2006/table">
            <a:tbl>
              <a:tblPr/>
              <a:tblGrid>
                <a:gridCol w="11068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78181">
                  <a:extLst>
                    <a:ext uri="{9D8B030D-6E8A-4147-A177-3AD203B41FA5}">
                      <a16:colId xmlns:a16="http://schemas.microsoft.com/office/drawing/2014/main" val="2220697480"/>
                    </a:ext>
                  </a:extLst>
                </a:gridCol>
                <a:gridCol w="1738746">
                  <a:extLst>
                    <a:ext uri="{9D8B030D-6E8A-4147-A177-3AD203B41FA5}">
                      <a16:colId xmlns:a16="http://schemas.microsoft.com/office/drawing/2014/main" val="4156912762"/>
                    </a:ext>
                  </a:extLst>
                </a:gridCol>
                <a:gridCol w="24938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8011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Subsystem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solidFill>
                            <a:schemeClr val="bg1"/>
                          </a:solidFill>
                        </a:rPr>
                        <a:t>Component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solidFill>
                            <a:schemeClr val="bg1"/>
                          </a:solidFill>
                        </a:rPr>
                        <a:t>Specification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Function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8011">
                <a:tc>
                  <a:txBody>
                    <a:bodyPr/>
                    <a:lstStyle/>
                    <a:p>
                      <a:r>
                        <a:rPr lang="en-US" sz="1600" dirty="0"/>
                        <a:t>Disposal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Dumping Mechanism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Manual or servo-assisted unloading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Transfers waste to central bin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8011">
                <a:tc>
                  <a:txBody>
                    <a:bodyPr/>
                    <a:lstStyle/>
                    <a:p>
                      <a:r>
                        <a:rPr lang="en-US" sz="1600" dirty="0"/>
                        <a:t>Safety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Emergency Stop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NC push button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Immediately stops the robot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8011">
                <a:tc>
                  <a:txBody>
                    <a:bodyPr/>
                    <a:lstStyle/>
                    <a:p>
                      <a:r>
                        <a:rPr lang="en-US" sz="1600" dirty="0"/>
                        <a:t>Safety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LED Indicators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Red/green/yellow LEDs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Shows system status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8011">
                <a:tc>
                  <a:txBody>
                    <a:bodyPr/>
                    <a:lstStyle/>
                    <a:p>
                      <a:r>
                        <a:rPr lang="en-US" sz="1600" dirty="0"/>
                        <a:t>Safety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Buzzer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5 V active buzzer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Provides warning sound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8011">
                <a:tc>
                  <a:txBody>
                    <a:bodyPr/>
                    <a:lstStyle/>
                    <a:p>
                      <a:r>
                        <a:rPr lang="en-US" sz="1600" dirty="0"/>
                        <a:t>Auxiliary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OLED Display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0.96-inch SSD1306 I2C, 128×64, 3.3–5 V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Displays mode, battery, detection, and error status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8011">
                <a:tc>
                  <a:txBody>
                    <a:bodyPr/>
                    <a:lstStyle/>
                    <a:p>
                      <a:r>
                        <a:rPr lang="en-US" sz="1600" dirty="0"/>
                        <a:t>Structure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Chassis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550 mm × 400 mm base, acrylic/metal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Main robot frame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281529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  <p:txBody>
          <a:bodyPr/>
          <a:lstStyle/>
          <a:p>
            <a:pPr algn="ctr"/>
            <a:r>
              <a:rPr lang="en-US" sz="2800" b="1" dirty="0">
                <a:solidFill>
                  <a:schemeClr val="bg1"/>
                </a:solidFill>
              </a:rPr>
              <a:t>Appendix: Specification</a:t>
            </a:r>
          </a:p>
          <a:p>
            <a:pPr algn="ctr"/>
            <a:endParaRPr lang="en-US" sz="2800" b="1" dirty="0">
              <a:solidFill>
                <a:schemeClr val="bg1"/>
              </a:solidFill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685800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1246469"/>
            <a:ext cx="8595360" cy="6331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endParaRPr lang="en-US" sz="1200" i="1" dirty="0">
              <a:solidFill>
                <a:srgbClr val="64748B"/>
              </a:solidFill>
              <a:ea typeface="Calibri"/>
              <a:cs typeface="Calibri"/>
            </a:endParaRPr>
          </a:p>
        </p:txBody>
      </p:sp>
      <p:graphicFrame>
        <p:nvGraphicFramePr>
          <p:cNvPr id="6" name="Table 0">
            <a:extLst>
              <a:ext uri="{FF2B5EF4-FFF2-40B4-BE49-F238E27FC236}">
                <a16:creationId xmlns:a16="http://schemas.microsoft.com/office/drawing/2014/main" id="{98966134-5752-4B23-9BBB-576FB48EF5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2828148"/>
              </p:ext>
            </p:extLst>
          </p:nvPr>
        </p:nvGraphicFramePr>
        <p:xfrm>
          <a:off x="381000" y="1411332"/>
          <a:ext cx="8488680" cy="3615248"/>
        </p:xfrm>
        <a:graphic>
          <a:graphicData uri="http://schemas.openxmlformats.org/drawingml/2006/table">
            <a:tbl>
              <a:tblPr/>
              <a:tblGrid>
                <a:gridCol w="15660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86479">
                  <a:extLst>
                    <a:ext uri="{9D8B030D-6E8A-4147-A177-3AD203B41FA5}">
                      <a16:colId xmlns:a16="http://schemas.microsoft.com/office/drawing/2014/main" val="778093577"/>
                    </a:ext>
                  </a:extLst>
                </a:gridCol>
                <a:gridCol w="2345358">
                  <a:extLst>
                    <a:ext uri="{9D8B030D-6E8A-4147-A177-3AD203B41FA5}">
                      <a16:colId xmlns:a16="http://schemas.microsoft.com/office/drawing/2014/main" val="3475458592"/>
                    </a:ext>
                  </a:extLst>
                </a:gridCol>
                <a:gridCol w="2390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4848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Subsystem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Component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Specification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Function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5237">
                <a:tc>
                  <a:txBody>
                    <a:bodyPr/>
                    <a:lstStyle/>
                    <a:p>
                      <a:r>
                        <a:rPr lang="en-US" dirty="0"/>
                        <a:t>Structure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Protective Cover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Acrylic/plastic/metal enclosure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Protects electronics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5237">
                <a:tc>
                  <a:txBody>
                    <a:bodyPr/>
                    <a:lstStyle/>
                    <a:p>
                      <a:r>
                        <a:rPr lang="en-US"/>
                        <a:t>Structure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Bumper Guard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Front impact guard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Reduces collision damage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5237">
                <a:tc>
                  <a:txBody>
                    <a:bodyPr/>
                    <a:lstStyle/>
                    <a:p>
                      <a:r>
                        <a:rPr lang="en-US"/>
                        <a:t>Structure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Mounting Hardware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Nuts, bolts, brackets, spacers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Mounts all components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35237">
                <a:tc>
                  <a:txBody>
                    <a:bodyPr/>
                    <a:lstStyle/>
                    <a:p>
                      <a:r>
                        <a:rPr lang="en-US"/>
                        <a:t>Wiring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Jumper Wires / Connectors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Signal and power wiring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Connects electronics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35237">
                <a:tc>
                  <a:txBody>
                    <a:bodyPr/>
                    <a:lstStyle/>
                    <a:p>
                      <a:r>
                        <a:rPr lang="en-US"/>
                        <a:t>Wiring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Breadboard / PCB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Prototype or soldered PCB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Supports circuit integration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494132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2D652952D9C6846A5977B8F3F4A893E" ma:contentTypeVersion="10" ma:contentTypeDescription="Create a new document." ma:contentTypeScope="" ma:versionID="6255e28231222f0c0acd7b465adb408e">
  <xsd:schema xmlns:xsd="http://www.w3.org/2001/XMLSchema" xmlns:xs="http://www.w3.org/2001/XMLSchema" xmlns:p="http://schemas.microsoft.com/office/2006/metadata/properties" xmlns:ns3="077b9d80-1836-41e1-bf0c-b29a7ccbd2f1" targetNamespace="http://schemas.microsoft.com/office/2006/metadata/properties" ma:root="true" ma:fieldsID="96a7d5019f690ca4dc4b816ba777d6f6" ns3:_="">
    <xsd:import namespace="077b9d80-1836-41e1-bf0c-b29a7ccbd2f1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SearchProperties" minOccurs="0"/>
                <xsd:element ref="ns3:_activity" minOccurs="0"/>
                <xsd:element ref="ns3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77b9d80-1836-41e1-bf0c-b29a7ccbd2f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6" nillable="true" ma:displayName="_activity" ma:hidden="true" ma:internalName="_activity">
      <xsd:simpleType>
        <xsd:restriction base="dms:Note"/>
      </xsd:simpleType>
    </xsd:element>
    <xsd:element name="MediaServiceDateTaken" ma:index="17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077b9d80-1836-41e1-bf0c-b29a7ccbd2f1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37899CD-40E8-4088-87EA-FF0C7E97252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77b9d80-1836-41e1-bf0c-b29a7ccbd2f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74045AB0-B563-4AC8-9468-075FCD234F6B}">
  <ds:schemaRefs>
    <ds:schemaRef ds:uri="http://purl.org/dc/elements/1.1/"/>
    <ds:schemaRef ds:uri="http://schemas.microsoft.com/office/2006/documentManagement/types"/>
    <ds:schemaRef ds:uri="http://www.w3.org/XML/1998/namespace"/>
    <ds:schemaRef ds:uri="077b9d80-1836-41e1-bf0c-b29a7ccbd2f1"/>
    <ds:schemaRef ds:uri="http://schemas.microsoft.com/office/infopath/2007/PartnerControls"/>
    <ds:schemaRef ds:uri="http://schemas.openxmlformats.org/package/2006/metadata/core-properties"/>
    <ds:schemaRef ds:uri="http://schemas.microsoft.com/office/2006/metadata/properties"/>
    <ds:schemaRef ds:uri="http://purl.org/dc/dcmitype/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3AC10CFB-A287-4217-8022-CC088FBA84D2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1557</TotalTime>
  <Words>1842</Words>
  <Application>Microsoft Office PowerPoint</Application>
  <PresentationFormat>On-screen Show (16:9)</PresentationFormat>
  <Paragraphs>528</Paragraphs>
  <Slides>34</Slides>
  <Notes>33</Notes>
  <HiddenSlides>0</HiddenSlides>
  <MMClips>3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0" baseType="lpstr">
      <vt:lpstr>Arial</vt:lpstr>
      <vt:lpstr>Arial,Sans-Serif</vt:lpstr>
      <vt:lpstr>Calibri</vt:lpstr>
      <vt:lpstr>Cambria Math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Autonomous Plastic Waste Collector Robot</dc:title>
  <dc:subject>PptxGenJS Presentation</dc:subject>
  <dc:creator>PptxGenJS</dc:creator>
  <cp:lastModifiedBy>Md. Niaz Morshed Razon</cp:lastModifiedBy>
  <cp:revision>17</cp:revision>
  <dcterms:created xsi:type="dcterms:W3CDTF">2026-05-04T15:35:05Z</dcterms:created>
  <dcterms:modified xsi:type="dcterms:W3CDTF">2026-05-06T01:06:17Z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0x010100F2D652952D9C6846A5977B8F3F4A893E</vt:lpwstr>
  </property>
</Properties>
</file>